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330" r:id="rId5"/>
    <p:sldId id="331" r:id="rId6"/>
    <p:sldId id="368" r:id="rId7"/>
    <p:sldId id="369" r:id="rId8"/>
    <p:sldId id="332" r:id="rId9"/>
    <p:sldId id="333" r:id="rId10"/>
    <p:sldId id="366" r:id="rId11"/>
    <p:sldId id="367" r:id="rId12"/>
    <p:sldId id="334" r:id="rId13"/>
    <p:sldId id="335" r:id="rId14"/>
    <p:sldId id="364" r:id="rId15"/>
    <p:sldId id="365" r:id="rId16"/>
    <p:sldId id="336" r:id="rId17"/>
    <p:sldId id="337" r:id="rId18"/>
    <p:sldId id="362" r:id="rId19"/>
    <p:sldId id="363" r:id="rId20"/>
    <p:sldId id="338" r:id="rId21"/>
    <p:sldId id="339" r:id="rId22"/>
    <p:sldId id="360" r:id="rId23"/>
    <p:sldId id="361" r:id="rId24"/>
    <p:sldId id="340" r:id="rId25"/>
    <p:sldId id="341" r:id="rId26"/>
    <p:sldId id="358" r:id="rId27"/>
    <p:sldId id="359" r:id="rId28"/>
    <p:sldId id="342" r:id="rId29"/>
    <p:sldId id="343" r:id="rId30"/>
    <p:sldId id="356" r:id="rId31"/>
    <p:sldId id="357" r:id="rId32"/>
    <p:sldId id="344" r:id="rId33"/>
    <p:sldId id="345" r:id="rId34"/>
    <p:sldId id="354" r:id="rId35"/>
    <p:sldId id="355" r:id="rId36"/>
    <p:sldId id="346" r:id="rId37"/>
    <p:sldId id="347" r:id="rId38"/>
    <p:sldId id="352" r:id="rId39"/>
    <p:sldId id="353" r:id="rId40"/>
    <p:sldId id="348" r:id="rId41"/>
    <p:sldId id="349" r:id="rId42"/>
    <p:sldId id="350" r:id="rId43"/>
    <p:sldId id="351" r:id="rId44"/>
    <p:sldId id="370" r:id="rId45"/>
    <p:sldId id="371" r:id="rId46"/>
    <p:sldId id="260" r:id="rId47"/>
  </p:sldIdLst>
  <p:sldSz cx="10080625" cy="55800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8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80" y="368"/>
      </p:cViewPr>
      <p:guideLst>
        <p:guide orient="horz" pos="1758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kumar Singaravelu" userId="79d9a579347d75e3" providerId="LiveId" clId="{33F179D8-C598-449D-8BBB-2B4198C98BC6}"/>
    <pc:docChg chg="custSel modSld">
      <pc:chgData name="Venkateshkumar Singaravelu" userId="79d9a579347d75e3" providerId="LiveId" clId="{33F179D8-C598-449D-8BBB-2B4198C98BC6}" dt="2026-08-09T08:47:02.809" v="4" actId="20577"/>
      <pc:docMkLst>
        <pc:docMk/>
      </pc:docMkLst>
      <pc:sldChg chg="modSp mod">
        <pc:chgData name="Venkateshkumar Singaravelu" userId="79d9a579347d75e3" providerId="LiveId" clId="{33F179D8-C598-449D-8BBB-2B4198C98BC6}" dt="2026-08-09T08:47:02.809" v="4" actId="20577"/>
        <pc:sldMkLst>
          <pc:docMk/>
          <pc:sldMk cId="3793148430" sldId="258"/>
        </pc:sldMkLst>
        <pc:spChg chg="mod">
          <ac:chgData name="Venkateshkumar Singaravelu" userId="79d9a579347d75e3" providerId="LiveId" clId="{33F179D8-C598-449D-8BBB-2B4198C98BC6}" dt="2026-08-09T08:47:02.809" v="4" actId="20577"/>
          <ac:spMkLst>
            <pc:docMk/>
            <pc:sldMk cId="3793148430" sldId="258"/>
            <ac:spMk id="3" creationId="{A23AB77E-1721-8D81-90D5-5B9C9E30CCAC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3793148430" sldId="25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3793148430" sldId="258"/>
            <ac:spMk id="1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109" v="1" actId="27636"/>
        <pc:sldMkLst>
          <pc:docMk/>
          <pc:sldMk cId="0" sldId="330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0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109" v="1" actId="27636"/>
          <ac:spMkLst>
            <pc:docMk/>
            <pc:sldMk cId="0" sldId="330"/>
            <ac:spMk id="12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0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0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0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31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1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1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1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1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32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2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2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2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2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2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2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33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3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3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3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3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34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4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4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4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4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4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4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35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5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5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5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5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36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6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6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6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6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6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6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37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7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7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7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7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38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8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8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8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8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8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39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9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9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9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39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40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0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0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0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0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0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0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41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1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1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1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1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42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2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2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2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2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2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2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43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3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3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3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3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44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4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4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4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4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4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4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45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5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5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5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5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46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6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6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6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6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6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6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47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7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7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7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7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48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8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8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8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8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8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49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9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9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9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49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50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0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0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0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0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0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0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51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1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1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1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1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1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52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2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2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2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2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2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2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53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3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3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3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3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3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54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4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4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4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4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4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4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55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5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5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5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5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5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56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6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6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6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6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6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6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57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7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7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7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7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7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58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8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8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8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8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8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59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9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9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9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9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59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60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0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0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0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0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0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0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61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1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1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1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1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1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62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2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2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2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2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2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2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63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3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3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3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3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3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64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4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4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4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4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4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4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65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5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5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5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5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5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66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6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6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6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6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6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6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67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7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7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7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7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7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68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8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8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8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8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8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69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9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9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9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9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69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70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70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70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8-07T19:02:42.016" v="0" actId="26606"/>
        <pc:sldMkLst>
          <pc:docMk/>
          <pc:sldMk cId="0" sldId="371"/>
        </pc:sldMkLst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71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8-07T19:02:42.016" v="0" actId="26606"/>
          <ac:spMkLst>
            <pc:docMk/>
            <pc:sldMk cId="0" sldId="371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36A8E-CA61-4566-A6D1-006F7BF71CD6}" type="datetimeFigureOut">
              <a:rPr lang="en-AE" smtClean="0"/>
              <a:t>07/08/2026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DE410-CB79-4446-B85D-134BAA55D0D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9374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33437"/>
            <a:ext cx="8568531" cy="1196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162036"/>
            <a:ext cx="7056438" cy="14260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1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0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585707"/>
            <a:ext cx="8568531" cy="11082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365069"/>
            <a:ext cx="8568531" cy="12206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7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5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1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9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249056"/>
            <a:ext cx="4454027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1769603"/>
            <a:ext cx="4454027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249056"/>
            <a:ext cx="4455776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1769603"/>
            <a:ext cx="4455776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09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774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2" y="222169"/>
            <a:ext cx="3316456" cy="94551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5" y="222170"/>
            <a:ext cx="5635349" cy="47624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2" y="1167680"/>
            <a:ext cx="3316456" cy="3816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59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3906044"/>
            <a:ext cx="6048375" cy="4611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498589"/>
            <a:ext cx="6048375" cy="3348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4367175"/>
            <a:ext cx="6048375" cy="6548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6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7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182127"/>
            <a:ext cx="2500906" cy="38737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182127"/>
            <a:ext cx="7334704" cy="3873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4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302015"/>
            <a:ext cx="9072563" cy="368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31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93DC-8431-4D9C-8775-C20137EA534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214" y="5171892"/>
            <a:ext cx="3192198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448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28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" y="0"/>
            <a:ext cx="10058400" cy="556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3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20" y="4011"/>
            <a:ext cx="10095445" cy="5589586"/>
          </a:xfrm>
        </p:spPr>
      </p:pic>
    </p:spTree>
    <p:extLst>
      <p:ext uri="{BB962C8B-B14F-4D97-AF65-F5344CB8AC3E}">
        <p14:creationId xmlns:p14="http://schemas.microsoft.com/office/powerpoint/2010/main" val="123636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3AB77E-1721-8D81-90D5-5B9C9E30CCAC}"/>
              </a:ext>
            </a:extLst>
          </p:cNvPr>
          <p:cNvSpPr txBox="1"/>
          <p:nvPr/>
        </p:nvSpPr>
        <p:spPr>
          <a:xfrm>
            <a:off x="504031" y="32961"/>
            <a:ext cx="87847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Generative AI </a:t>
            </a:r>
            <a:r>
              <a:rPr lang="en-US" altLang="en-US" sz="2800" b="1">
                <a:latin typeface="Arial" panose="020B0604020202020204" pitchFamily="34" charset="0"/>
              </a:rPr>
              <a:t>for Beginners</a:t>
            </a: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0" name="TOC Left"/>
          <p:cNvSpPr txBox="1"/>
          <p:nvPr/>
        </p:nvSpPr>
        <p:spPr>
          <a:xfrm>
            <a:off x="65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01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What Is Generative AI?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02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Python Setup for Generative AI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03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Inside an LLM: Tokens and Transformers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04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Calling LLM APIs with Python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05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Prompt Engineering Essentials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1" name="TOC Right"/>
          <p:cNvSpPr txBox="1"/>
          <p:nvPr/>
        </p:nvSpPr>
        <p:spPr>
          <a:xfrm>
            <a:off x="518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06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Embeddings &amp; Semantic Search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07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Retrieval-Augmented Generation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08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Build a Chatbot in Python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09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Image &amp; Multimodal Generation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10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Evaluation, Safety &amp; Deployment</a:t>
            </a:r>
          </a:p>
        </p:txBody>
      </p:sp>
    </p:spTree>
    <p:extLst>
      <p:ext uri="{BB962C8B-B14F-4D97-AF65-F5344CB8AC3E}">
        <p14:creationId xmlns:p14="http://schemas.microsoft.com/office/powerpoint/2010/main" val="379314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Heading"/>
          <p:cNvSpPr txBox="1"/>
          <p:nvPr/>
        </p:nvSpPr>
        <p:spPr>
          <a:xfrm>
            <a:off x="504031" y="36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333333"/>
                </a:solidFill>
                <a:latin typeface="Arial" panose="020B0604020202020204" pitchFamily="34" charset="0"/>
              </a:rPr>
              <a:t>What Is Generative AI?</a:t>
            </a:r>
          </a:p>
        </p:txBody>
      </p:sp>
      <p:sp>
        <p:nvSpPr>
          <p:cNvPr id="11" name="Rule"/>
          <p:cNvSpPr/>
          <p:nvPr/>
        </p:nvSpPr>
        <p:spPr>
          <a:xfrm>
            <a:off x="514031" y="115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Definition"/>
          <p:cNvSpPr txBox="1"/>
          <p:nvPr/>
        </p:nvSpPr>
        <p:spPr>
          <a:xfrm>
            <a:off x="504031" y="133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92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333333"/>
                </a:solidFill>
                <a:latin typeface="Arial" panose="020B0604020202020204" pitchFamily="34" charset="0"/>
              </a:rPr>
              <a:t>Generative AI creates new content — text, images, code, audio — by learning patterns from huge datasets. This 5-hour course runs as ten 30-minute modules, each pairing concepts with a Python hands-on lab and a short quiz.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Models that produce new content rather than only classifying or predicting existing data.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How You Will Learn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Ten 30-minute modules: concepts, a Python lab you type along with, then a 3-question quiz.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You Need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Basic Python, a laptop with Python 3.10+, and an API key for a hosted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01 -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Generative AI: The Landscape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Generative vs Predictive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one creates new content, the other labels or forecasts.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Foundation Models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large models pre-trained once and reused for many tasks.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Modalities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text, image, audio, video, and code generation.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LLMs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language models such as GPT, Claude, Llama, and Gemini.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Diffusion Models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denoise random noise into images from a text prompt.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Common Uses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drafting, summarising, chat assistants, and coding help.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01 - HANDS-ON (PYTHON)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Your First Generated Text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Lab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Generate a sentence from a text model and see generative AI work end to end.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Setup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pip install transformers torch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Code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gen = pipeline("text-generation", model="gpt2")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You Should See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gen("AI will") writes a brand-new sentence for you.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01 -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What Is Generative AI?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Generative AI is best described as models that…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Only sort data    B) Create new content    C) Delete files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foundation model is…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 large pre-trained model reused for many tasks    B) A spreadsheet    C) A database index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Which is a generative modality?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Text and images    B) Disk formatting    C) Network routing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02 -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Python Setup for Generative AI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Before you build anything, you need a clean Python environment, the right libraries, and a safe way to store API keys. Getting this right once saves hours later.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Environment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virtual environment keeps each project's packages isolated and reproducible.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Libraries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openai, transformers, and python-dotenv cover most beginner work.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Keys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Store API keys in a .env file, never inside your source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02 -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Python Setup for Generative AI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Virtual Environments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python -m venv .venv isolates project dependencies.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Package Install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pip install openai transformers python-dotenv.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Notebooks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Jupyter or Colab give you fast, cell-by-cell iteration.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API Keys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load secrets with os.getenv, keep .env out of git.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Local vs Hosted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run small models locally or call a hosted API.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Cost &amp; Limits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watch token usage and rate limits from day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02 - HANDS-ON (PYTHON)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Build Your Working Environment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Lab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Create an isolated environment and load an API key safely from a .env file.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Setup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python -m venv .venv, then pip install openai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Code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load_dotenv(); key = os.getenv("API_KEY")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You Should See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non-empty key printed as masked text, with no secret in your source file.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02 -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Python Setup for Generative AI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virtual environment is used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Isolate project dependencies    B) Speed up the GPU    C) Compress images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API keys should be stored…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Hard-coded in the script    B) In a .env file loaded at runtime    C) In a public repo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python-dotenv helps you…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Load environment variables    B) Train a model    C) Draw charts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03 -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Inside an LLM: Tokens and Transformers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A language model does one thing extremely well: predict the next token. Understanding tokens, context windows, and attention explains almost every behaviour you will meet.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Unit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Text is split into tokens — roughly word pieces the model works with.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Engine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transformer uses attention to weigh every token against the others.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Output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The model samples the next token, again and again, to write a reply.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03 -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Inside an LLM: Tokens and Transformers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Tokenisation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text becomes numeric tokens the model can process.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Context Window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maximum tokens a model can read at once.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Self-Attention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each token weighs its relevance to every other token.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Next-Token Prediction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generation is repeated prediction, one token at a time.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Temperature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higher values give more varied, creative output.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Pre-training &amp; Fine-tuning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learn language broadly, then specialise.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03 - HANDS-ON (PYTHON)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See Your Text as Tokens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Lab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Tokenise a sentence and count its tokens so context limits stop being a mystery.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Setup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pip install tiktoken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Code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ids = enc.encode("Generative AI is fun")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You Should See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list of token ids and len(ids) — your first real token count.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03 -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Inside an LLM: Tokens and Transformers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token is roughly…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 word piece the model processes    B) A pixel    C) A password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The context window limits…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How many tokens the model can read at once    B) Screen size    C) File names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Raising the temperature makes output…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Shorter    B) More varied and creative    C) Always identical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04 -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Calling LLM APIs with Python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Most beginner projects never train a model — they call one. A few lines of Python send messages to a hosted model and get structured, usable text back.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Request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You send a list of messages with roles: system, user, assistant.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Controls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Model name, temperature, and max tokens shape the response.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Response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Read the returned text, plus token usage for cost tracking.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04 -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Calling LLM APIs with Python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Chat Completions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standard request format for conversational models.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Roles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system sets behaviour, user asks, assistant replies.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Parameters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temperature, max_tokens, and top_p tune the output.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Streaming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receive tokens as they are produced for a live feel.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Structured Output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ask for JSON so your code can parse the reply.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Errors &amp; Retries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handle rate limits with backoff and clear messages.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04 - HANDS-ON (PYTHON)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Your First API Call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Lab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Send a prompt to a hosted model and print the reply and its token usage.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Setup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pip install openai and add your key to .env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Code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Call chat completions with a list of messages.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You Should See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one-line answer, plus the token usage it cost.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04 -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Calling LLM APIs with Python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The system role is used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Set the assistant's behaviour    B) Store the API key    C) Pick a font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max_tokens controls…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The length of the response    B) The model's accuracy    C) The internet speed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Streaming a response means…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Tokens arrive as they are generated    B) The model retrains    C) Data is deleted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05 -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Prompt Engineering Essentials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The same model gives very different answers depending on how you ask. Clear instructions, context, examples, and an explicit output format do most of the work.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Be Specific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State the task, the audience, the tone, and the length you want.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Show Examples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couple of worked examples teach the pattern faster than description.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Fix the Format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Ask for bullets, a table, or JSON so the output is easy to use.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05 -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Prompt Engineering Essentials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Zero-Shot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ask directly with no examples.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Few-Shot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include examples that demonstrate the pattern.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Chain of Thought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ask the model to reason step by step.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Role Prompting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give the model a persona and a goal.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Output Format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request JSON, bullets, or a fixed template.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Iteration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test, compare, and refine prompts like code.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05 - HANDS-ON (PYTHON)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Compare Three Prompts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Lab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Run zero-shot, few-shot, and role prompts on one task and compare the answers.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Setup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Write three prompts for the same task.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Code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for p in prompts: print(ask(p))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You Should See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Three visibly different answers, with the few-shot version closest to your format.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05 -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Prompt Engineering Essentials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Few-shot prompting means…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Giving examples in the prompt    B) Using fewer GPUs    C) Shortening the model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Asking for JSON output helps because…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It looks nicer    B) Your code can parse it reliably    C) It costs nothing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Chain-of-thought prompting asks the model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Reason step by step    B) Answer in one word    C) Ignore the question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06 -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Embeddings and Semantic Search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Embeddings turn text into vectors that capture meaning. Similar ideas land close together, which lets you search by meaning instead of by keyword.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numeric vector that represents the meaning of a piece of text.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Search finds relevant text even when the words do not match.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Where It Leads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Embeddings are the foundation of retrieval-augmented generation.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06 -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Embeddings and Semantic Search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Vectors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lists of numbers that encode meaning.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Cosine Similarity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measures how close two vectors point.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Chunking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split long documents into searchable passages.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Vector Stores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FAISS or Chroma index vectors for fast lookup.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Top-K Retrieval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return the k most similar chunks to a query.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Embedding Models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small, cheap models built purely for this job.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06 - HANDS-ON (PYTHON)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Search by Meaning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Lab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Embed a handful of sentences and find the closest match to a query.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Setup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pip install sentence-transformers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Code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Encode the texts, then compare with cosine similarity.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You Should See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The right sentence returned even when it shares no keywords with the query.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06 -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Embeddings and Semantic Search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An embedding is…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 vector representing meaning    B) A compressed image    C) A password hash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Cosine similarity measures…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File size    B) How close two vectors are in meaning    C) Training time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Chunking documents is needed because…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Passages retrieve better than whole files    B) It deletes text    C) It trains the model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07 -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Retrieval-Augmented Generation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RAG grounds a model in your own documents. You retrieve the most relevant passages, put them in the prompt, and let the model answer from that evidence.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Problem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Models invent details when they lack the facts you care about.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Pattern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Retrieve relevant chunks, then generate an answer from them.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Payoff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Current, source-backed answers without retraining the model.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07 -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Retrieval-Augmented Generation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Indexing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chunk, embed, and store your documents once.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Retrieval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fetch the top matching chunks for each question.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Augmented Prompt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paste those chunks into the model's context.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Grounding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instruct the model to answer only from the context.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Citations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return the source chunk alongside the answer.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Hallucination Control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allow "I don't know" when nothing matches.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07 - HANDS-ON (PYTHON)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Build a Mini RAG Pipeline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Lab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Answer questions about your own text file using retrieval plus an LLM.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Setup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Chunk a .txt file into passages and embed them with your embedding model.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Code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Retrieve the top chunks, then ask using only that context.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You Should See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Answers drawn from your document, and "I don't know" when it is not covered.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07 -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Retrieval-Augmented Generation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RAG improves answers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Grounding them in retrieved documents    B) Retraining the model    C) Deleting context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The retrieval step returns…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The most relevant chunks    B) The whole internet    C) Random text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Letting the model say "I don't know"…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Increases hallucination    B) Reduces hallucination    C) Has no effect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08 -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Build a Chatbot in Python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A chatbot is a loop: take input, append it to a conversation history, call the model, print the reply. Memory and a good system prompt turn it into a usable assistant.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Loop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Read input, call the model, print the answer, repeat.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Memory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Keep the message history so the bot remembers the conversation.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Persona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system prompt fixes tone, scope, and what to refuse.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08 -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Build a Chatbot in Python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Message History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 growing list of role and content pairs.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System Prompt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standing instruction that shapes every reply.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Context Trimming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drop old turns before you hit the token limit.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Streaming UI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print tokens live so the bot feels responsive.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Tool Calling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let the model trigger your Python functions.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Simple Front Ends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Streamlit or Gradio wrap it in a web app fast.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08 - HANDS-ON (PYTHON)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A Chatbot With Memory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Lab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Build a terminal chatbot that remembers earlier turns in the conversation.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Setup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Start a message list with a system prompt.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Code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Loop: read input, call the model, append the reply.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You Should See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The bot correctly answering a follow-up like "and explain that more simply".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08 -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Build a Chatbot in Python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chatbot remembers context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Keeping the message history    B) Saving screenshots    C) Restarting each turn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The system prompt mainly sets…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The model's behaviour and tone    B) The screen colour    C) The file path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Context trimming is needed because…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Histories can exceed the token limit    B) Text is illegal    C) Models forget on purpose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09 -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Image and Multimodal Generation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Generative AI is not only text. Diffusion models create images from prompts, and multimodal models read images and text together to describe, extract, and reason.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Text to Image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Diffusion models turn random noise into an image guided by your prompt.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Image to Text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Multimodal models caption images and pull data out of screenshots.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Beyond Pixels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The same idea extends to audio, video, and speech.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09 -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Image and Multimodal Generation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Diffusion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denoise random noise step by step into an image.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Prompt &amp; Negative Prompt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say what you want and what to avoid.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Guidance Scale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how strictly the image follows the prompt.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Seeds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fix a seed to reproduce the same image.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Vision Models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send an image with your prompt for analysis.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Rights &amp; Attribution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check licensing before you publish output.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09 - HANDS-ON (PYTHON)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Generate and Describe an Image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Lab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Create an image from a prompt, then ask a vision model to describe it back.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Setup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Use your API client's image endpoint, or pip install diffusers for local runs.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Code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images.generate(prompt="a calm study desk")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You Should See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saved image file, and a caption that matches what you asked for.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09 -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Image and Multimodal Generation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Diffusion models create images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Gradually denoising random noise    B) Cropping photos    C) Sorting pixels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fixed seed lets you…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Reproduce the same image    B) Train faster    C) Skip the prompt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multimodal model can…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Read images and text together    B) Only read numbers    C) Only write code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10 -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Evaluation, Safety and Deployment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Shipping a generative AI feature means knowing whether it is good, keeping it safe, and running it within budget. These habits separate demos from products.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Measure It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Test with a fixed set of prompts and expected answers.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Keep It Safe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Guard against hallucination, prompt injection, and leaked data.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Ship It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Wrap it in an app, monitor usage, and control token cost.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10 -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Evaluation, Safety and Deployment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Eval Sets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 fixed prompt suite you rerun after every change.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Hallucination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confident output that is simply not true.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Prompt Injection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hostile text in your data trying to hijack the model.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Privacy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never send data you are not allowed to share.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Cost Control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smaller models, shorter prompts, cached answers.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Deployment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Streamlit, FastAPI, or a scheduled script.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10 - HANDS-ON (PYTHON)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Evaluate and Ship Your App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Lab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Score your RAG bot against a small eval set, then serve it as a web app.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Setup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List test questions with an expected keyword each.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Code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score = matches / len(tests)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You Should See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pass rate you can track, and your app running locally.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10 -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Evaluation, Safety and Deployment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An eval set is used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Track quality across changes    B) Store API keys    C) Compress models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Prompt injection is…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Hostile text trying to hijack the model    B) A faster GPU    C) A chart type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good way to cut cost is…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Shorter prompts and smaller models    B) Longer prompts    C) More retries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COURSE REVIEW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Answer Key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AKCol1"/>
          <p:cNvSpPr txBox="1"/>
          <p:nvPr/>
        </p:nvSpPr>
        <p:spPr>
          <a:xfrm>
            <a:off x="5040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1 — What Is Generative AI?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B, A, A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2 — Python Setup for GenAI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A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3 — Tokens and Transformers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A, B</a:t>
            </a:r>
          </a:p>
        </p:txBody>
      </p:sp>
      <p:sp>
        <p:nvSpPr>
          <p:cNvPr id="21" name="AKCol2"/>
          <p:cNvSpPr txBox="1"/>
          <p:nvPr/>
        </p:nvSpPr>
        <p:spPr>
          <a:xfrm>
            <a:off x="52765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4 — LLM APIs with Python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A, A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5 — Prompt Engineering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COURSE REVIEW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Answer Key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AKCol1"/>
          <p:cNvSpPr txBox="1"/>
          <p:nvPr/>
        </p:nvSpPr>
        <p:spPr>
          <a:xfrm>
            <a:off x="5040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6 — Embeddings and Search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A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7 — Retrieval-Augmented Generation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A, B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8 — Chatbots in Python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A, A</a:t>
            </a:r>
          </a:p>
        </p:txBody>
      </p:sp>
      <p:sp>
        <p:nvSpPr>
          <p:cNvPr id="21" name="AKCol2"/>
          <p:cNvSpPr txBox="1"/>
          <p:nvPr/>
        </p:nvSpPr>
        <p:spPr>
          <a:xfrm>
            <a:off x="52765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9 — Image and Multimodal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A, A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10 — Evaluation and Deployment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A, 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43" y="-1320"/>
            <a:ext cx="10098067" cy="5591039"/>
          </a:xfrm>
        </p:spPr>
      </p:pic>
    </p:spTree>
    <p:extLst>
      <p:ext uri="{BB962C8B-B14F-4D97-AF65-F5344CB8AC3E}">
        <p14:creationId xmlns:p14="http://schemas.microsoft.com/office/powerpoint/2010/main" val="292355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14026</TotalTime>
  <Words>3354</Words>
  <Application>Microsoft Office PowerPoint</Application>
  <PresentationFormat>Custom</PresentationFormat>
  <Paragraphs>384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Venkateshkumar Singaravelu</cp:lastModifiedBy>
  <cp:revision>215</cp:revision>
  <dcterms:created xsi:type="dcterms:W3CDTF">2021-10-09T09:31:30Z</dcterms:created>
  <dcterms:modified xsi:type="dcterms:W3CDTF">2026-08-09T08:47:04Z</dcterms:modified>
</cp:coreProperties>
</file>