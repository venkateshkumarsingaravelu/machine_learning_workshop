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330" r:id="rId4"/>
    <p:sldId id="331" r:id="rId5"/>
    <p:sldId id="368" r:id="rId6"/>
    <p:sldId id="332" r:id="rId7"/>
    <p:sldId id="333" r:id="rId8"/>
    <p:sldId id="366" r:id="rId9"/>
    <p:sldId id="375" r:id="rId10"/>
    <p:sldId id="377" r:id="rId11"/>
    <p:sldId id="379" r:id="rId12"/>
    <p:sldId id="372" r:id="rId13"/>
    <p:sldId id="374" r:id="rId14"/>
    <p:sldId id="376" r:id="rId15"/>
    <p:sldId id="378" r:id="rId16"/>
    <p:sldId id="373" r:id="rId17"/>
  </p:sldIdLst>
  <p:sldSz cx="10080625" cy="55800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8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80" y="368"/>
      </p:cViewPr>
      <p:guideLst>
        <p:guide orient="horz" pos="1758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kumar Singaravelu" userId="79d9a579347d75e3" providerId="LiveId" clId="{33F179D8-C598-449D-8BBB-2B4198C98BC6}"/>
    <pc:docChg chg="undo custSel addSld delSld modSld">
      <pc:chgData name="Venkateshkumar Singaravelu" userId="79d9a579347d75e3" providerId="LiveId" clId="{33F179D8-C598-449D-8BBB-2B4198C98BC6}" dt="2026-09-27T07:12:16.079" v="8" actId="20577"/>
      <pc:docMkLst>
        <pc:docMk/>
      </pc:docMkLst>
      <pc:sldChg chg="modSp mod">
        <pc:chgData name="Venkateshkumar Singaravelu" userId="79d9a579347d75e3" providerId="LiveId" clId="{33F179D8-C598-449D-8BBB-2B4198C98BC6}" dt="2026-09-27T07:12:16.079" v="8" actId="20577"/>
        <pc:sldMkLst>
          <pc:docMk/>
          <pc:sldMk cId="69043358" sldId="256"/>
        </pc:sldMkLst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69043358" sldId="256"/>
            <ac:spMk id="2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7:12:16.079" v="8" actId="20577"/>
          <ac:spMkLst>
            <pc:docMk/>
            <pc:sldMk cId="69043358" sldId="256"/>
            <ac:spMk id="3" creationId="{00000000-0000-0000-0000-000000000000}"/>
          </ac:spMkLst>
        </pc:spChg>
        <pc:picChg chg="ord">
          <ac:chgData name="Venkateshkumar Singaravelu" userId="79d9a579347d75e3" providerId="LiveId" clId="{33F179D8-C598-449D-8BBB-2B4198C98BC6}" dt="2026-09-27T06:11:27.764" v="0" actId="26606"/>
          <ac:picMkLst>
            <pc:docMk/>
            <pc:sldMk cId="69043358" sldId="256"/>
            <ac:picMk id="4" creationId="{00000000-0000-0000-0000-000000000000}"/>
          </ac:picMkLst>
        </pc:picChg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1236366825" sldId="257"/>
        </pc:sldMkLst>
      </pc:sldChg>
      <pc:sldChg chg="delSp modSp mod">
        <pc:chgData name="Venkateshkumar Singaravelu" userId="79d9a579347d75e3" providerId="LiveId" clId="{33F179D8-C598-449D-8BBB-2B4198C98BC6}" dt="2026-09-27T06:11:27.764" v="0" actId="26606"/>
        <pc:sldMkLst>
          <pc:docMk/>
          <pc:sldMk cId="3793148430" sldId="258"/>
        </pc:sldMkLst>
        <pc:spChg chg="del">
          <ac:chgData name="Venkateshkumar Singaravelu" userId="79d9a579347d75e3" providerId="LiveId" clId="{33F179D8-C598-449D-8BBB-2B4198C98BC6}" dt="2026-09-27T06:11:27.764" v="0" actId="26606"/>
          <ac:spMkLst>
            <pc:docMk/>
            <pc:sldMk cId="3793148430" sldId="258"/>
            <ac:spMk id="2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3793148430" sldId="258"/>
            <ac:spMk id="3" creationId="{A23AB77E-1721-8D81-90D5-5B9C9E30CCAC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3793148430" sldId="25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3793148430" sldId="258"/>
            <ac:spMk id="11" creationId="{00000000-0000-0000-0000-000000000000}"/>
          </ac:spMkLst>
        </pc:spChg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2923551494" sldId="260"/>
        </pc:sldMkLst>
      </pc:sldChg>
      <pc:sldChg chg="modSp mo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30"/>
        </pc:sldMkLst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0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0"/>
            <ac:spMk id="12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0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0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31"/>
        </pc:sldMkLst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1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1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1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32"/>
        </pc:sldMkLst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2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2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2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2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2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2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33"/>
        </pc:sldMkLst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3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3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3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33"/>
            <ac:spMk id="21" creationId="{00000000-0000-0000-0000-000000000000}"/>
          </ac:spMkLst>
        </pc:spChg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34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35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36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37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38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39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40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41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42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43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44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45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46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47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48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49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50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51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52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53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54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55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56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57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58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59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60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61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62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63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64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65"/>
        </pc:sldMkLst>
      </pc:sldChg>
      <pc:sldChg chg="modSp mo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66"/>
        </pc:sldMkLst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6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6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6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6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6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6"/>
            <ac:spMk id="22" creationId="{00000000-0000-0000-0000-000000000000}"/>
          </ac:spMkLst>
        </pc:spChg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67"/>
        </pc:sldMkLst>
      </pc:sldChg>
      <pc:sldChg chg="modSp mo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68"/>
        </pc:sldMkLst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8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8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8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8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27T06:11:27.764" v="0" actId="26606"/>
          <ac:spMkLst>
            <pc:docMk/>
            <pc:sldMk cId="0" sldId="368"/>
            <ac:spMk id="22" creationId="{00000000-0000-0000-0000-000000000000}"/>
          </ac:spMkLst>
        </pc:spChg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69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70"/>
        </pc:sldMkLst>
      </pc:sldChg>
      <pc:sldChg chg="del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71"/>
        </pc:sldMkLst>
      </pc:sldChg>
      <pc:sldChg chg="ad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72"/>
        </pc:sldMkLst>
      </pc:sldChg>
      <pc:sldChg chg="ad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73"/>
        </pc:sldMkLst>
      </pc:sldChg>
      <pc:sldChg chg="ad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74"/>
        </pc:sldMkLst>
      </pc:sldChg>
      <pc:sldChg chg="ad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75"/>
        </pc:sldMkLst>
      </pc:sldChg>
      <pc:sldChg chg="ad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76"/>
        </pc:sldMkLst>
      </pc:sldChg>
      <pc:sldChg chg="ad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77"/>
        </pc:sldMkLst>
      </pc:sldChg>
      <pc:sldChg chg="ad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78"/>
        </pc:sldMkLst>
      </pc:sldChg>
      <pc:sldChg chg="add">
        <pc:chgData name="Venkateshkumar Singaravelu" userId="79d9a579347d75e3" providerId="LiveId" clId="{33F179D8-C598-449D-8BBB-2B4198C98BC6}" dt="2026-09-27T06:11:27.764" v="0" actId="26606"/>
        <pc:sldMkLst>
          <pc:docMk/>
          <pc:sldMk cId="0" sldId="3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36A8E-CA61-4566-A6D1-006F7BF71CD6}" type="datetimeFigureOut">
              <a:rPr lang="en-AE" smtClean="0"/>
              <a:t>27/09/2026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DE410-CB79-4446-B85D-134BAA55D0D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374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33437"/>
            <a:ext cx="8568531" cy="1196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162036"/>
            <a:ext cx="7056438" cy="14260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1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0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585707"/>
            <a:ext cx="8568531" cy="11082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365069"/>
            <a:ext cx="8568531" cy="12206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7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5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1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9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249056"/>
            <a:ext cx="4454027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1769603"/>
            <a:ext cx="4454027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249056"/>
            <a:ext cx="4455776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1769603"/>
            <a:ext cx="4455776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9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74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2" y="222169"/>
            <a:ext cx="3316456" cy="9455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5" y="222170"/>
            <a:ext cx="5635349" cy="47624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2" y="1167680"/>
            <a:ext cx="3316456" cy="3816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9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3906044"/>
            <a:ext cx="6048375" cy="4611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498589"/>
            <a:ext cx="6048375" cy="3348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4367175"/>
            <a:ext cx="6048375" cy="6548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6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7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182127"/>
            <a:ext cx="2500906" cy="3873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182127"/>
            <a:ext cx="7334704" cy="3873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302015"/>
            <a:ext cx="9072563" cy="368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93DC-8431-4D9C-8775-C20137EA534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5171892"/>
            <a:ext cx="319219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8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" y="0"/>
            <a:ext cx="10058400" cy="55690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40680" y="1325880"/>
            <a:ext cx="4069080" cy="1508760"/>
          </a:xfrm>
        </p:spPr>
        <p:txBody>
          <a:bodyPr/>
          <a:lstStyle/>
          <a:p>
            <a:r>
              <a:rPr lang="en-US" sz="3000" b="1">
                <a:solidFill>
                  <a:srgbClr val="333333"/>
                </a:solidFill>
                <a:latin typeface="Arial"/>
              </a:rPr>
              <a:t>LangGraph for Stateful,
Controllable Agents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2880360"/>
            <a:ext cx="3931920" cy="822960"/>
          </a:xfrm>
        </p:spPr>
        <p:txBody>
          <a:bodyPr/>
          <a:lstStyle/>
          <a:p>
            <a:r>
              <a:rPr lang="en-US" sz="1400" b="1" dirty="0">
                <a:solidFill>
                  <a:srgbClr val="1398AB"/>
                </a:solidFill>
                <a:latin typeface="Arial"/>
              </a:rPr>
              <a:t>A practical </a:t>
            </a:r>
            <a:r>
              <a:rPr lang="en-US" sz="1400" b="1">
                <a:solidFill>
                  <a:srgbClr val="1398AB"/>
                </a:solidFill>
                <a:latin typeface="Arial"/>
              </a:rPr>
              <a:t>developer overview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43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3AB77E-1721-8D81-90D5-5B9C9E30CCAC}"/>
              </a:ext>
            </a:extLst>
          </p:cNvPr>
          <p:cNvSpPr txBox="1"/>
          <p:nvPr/>
        </p:nvSpPr>
        <p:spPr>
          <a:xfrm>
            <a:off x="504031" y="32961"/>
            <a:ext cx="8784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>
                <a:latin typeface="Arial" panose="020B0604020202020204" pitchFamily="34" charset="0"/>
              </a:rPr>
              <a:t>From orchestration basics to production</a:t>
            </a:r>
            <a:endParaRPr lang="en-US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0" name="TOC Left"/>
          <p:cNvSpPr txBox="1"/>
          <p:nvPr/>
        </p:nvSpPr>
        <p:spPr>
          <a:xfrm>
            <a:off x="65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01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Why LangGraph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02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Graph model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03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Agent loop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04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State design</a:t>
            </a:r>
          </a:p>
        </p:txBody>
      </p:sp>
      <p:sp>
        <p:nvSpPr>
          <p:cNvPr id="11" name="TOC Right"/>
          <p:cNvSpPr txBox="1"/>
          <p:nvPr/>
        </p:nvSpPr>
        <p:spPr>
          <a:xfrm>
            <a:off x="518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05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Durable execution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06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Human oversight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07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Memory &amp; composition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08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Production path</a:t>
            </a:r>
          </a:p>
        </p:txBody>
      </p:sp>
    </p:spTree>
    <p:extLst>
      <p:ext uri="{BB962C8B-B14F-4D97-AF65-F5344CB8AC3E}">
        <p14:creationId xmlns:p14="http://schemas.microsoft.com/office/powerpoint/2010/main" val="379314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LangGraph makes control explicit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LangGraph is a low-level orchestration framework and runtime for long-running, stateful agents. It combines deterministic code with LLM-driven decisions in one explicit graph.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Fine-grained control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Make branching, loops, retries, and tool calls visible in code.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Stateful by design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Carry structured state across steps, threads, pauses, and failures.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Built for operations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Stream progress, interrupt safely, trace behavior, and deploy durable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FOUNDATIONS — GRAPH MODEL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State, nodes, and edges define execution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State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shared snapshot every step reads and partially updates.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Nodes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plain functions that perform model, tool, or deterministic work.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Reducers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rules that merge concurrent updates to the same state key.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Edges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fixed or conditional routes that select the next node.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START / END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explicit boundaries for entry and completion.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Super-steps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message-passing rounds; independent nodes can run in parallel.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FOUNDATIONS — PRACTICAL LOOP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 tool-calling agent is an explicit loop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user asks a question that may require one or more external tools before a final answer.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1  Model decides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Read message state; answer directly or emit a structured tool call.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2  Tool executes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Run the requested function and append its result to message state.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3  Route or finish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conditional edge loops to the model or ends when no tool call remains.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FOUNDATIONS — STATE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State design keeps branches correct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Nodes return partial state updates—not hidden mutations. A clear schema and merge rules keep loops, branches, and parallel work predictable.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Typed schema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Use TypedDict, dataclasses, or supported schemas to define shared channels.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MessagesState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Start with the built-in messages channel for conversational agents.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Run context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Pass dependencies and per-run values through context, separate from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BUILD — GRAPH API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Compile once; invoke or stream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Build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StateGraph(schema) defines the shared execution contract.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Connect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add_node, add_edge, and conditional edges shape the control flow.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Compile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compile() creates the executable graph and validates structure.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Run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invoke / ainvoke return a result from one input.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Observe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stream / astream expose updates while the graph executes.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Configure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thread_id selects persisted state; context carries run-scoped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RUNTIME — DURABLE EXECUTION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Checkpoints make execution durable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tool or network call fails after several expensive model steps have already completed.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Checkpoint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Persist a thread’s state snapshot at graph boundaries with a checkpointer.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Resume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Reinvoke with the same thread_id to continue from saved state instead of restarting.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Recover &amp; inspect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Support fault tolerance, conversation continuity, and time-travel debugging.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RUNTIME — HUMAN-IN-THE-LOOP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Interrupts enable safe approvals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interrupt() pauses inside a node, persists the current graph state, and returns a JSON-serializable request. Resume later with Command and the same thread.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Dynamic control point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Pause anywhere in node logic—and only when the condition requires it.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Structured handoff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Surface proposed actions, context, and approval choices to an external UI.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Persistent cursor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The thread_id identifies the checkpoint to resume, even much later.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RUNTIME — MEMORY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Memory has two distinct scopes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Checkpointer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persists graph-state snapshots for one thread.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Short-term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supports conversation continuity, interrupts, and recovery.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Access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pass thread_id in graph configuration to load the right checkpoint.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Store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persists application-defined data across multiple threads.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Long-term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keeps preferences, facts, shared knowledge, and searchable memories.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Production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Agent Server can manage persistence infrastructure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COMPOSITION — SUBGRAPHS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Subgraphs scale coordinated systems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complex agent needs specialist reasoning, private state, and independent team ownership.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Isolate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Build a focused graph for each reusable capability or specialist agent.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Map state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Share state keys directly—or wrap the subgraph to transform its input and output.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Compose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Add the compiled subgraph as a parent node and preserve a clear interface boundary.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OPERATE — OBSERVABILITY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Streaming makes behavior observable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Updates / values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emit partial changes or the full state after each step.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Messages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stream model tokens with metadata for responsive interfaces.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Custom events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publish progress from nodes; checkpoints and tasks support debugging.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Traces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record model calls, tools, retrieval, and nested runs end to end.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Threads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group traces into the history of one multi-turn session.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Evaluation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turn traces into datasets; run offline regressions and online monitors.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OPERATE — DEPLOYMENT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Production needs state and queues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team must serve long-running agents through reliable APIs for real-time and background work.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Graphs &amp; assistants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Deploy one or more graph blueprints with task-specific assistant configuration.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Threads &amp; database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Persist state and long-term memory so runs survive pauses and failures.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Runs &amp; task queue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Use Agent Server APIs to manage runs, concurrency, background jobs, and schedules.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DECIDE — FRAMEWORK FIT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Use LangGraph when control matters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LangGraph is deliberately low-level. It earns its complexity when the application needs custom control flow, durable state, or operational intervention.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Best fit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Bespoke loops, branching, approvals, recovery, multi-agent composition, and long runs.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Start higher-level when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standard model-and-tools loop is enough; use LangChain create_agent first.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Trade-off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More explicit state and routing means more design, tests, and operational ownership.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BUILD — STARTING CHECKLIST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Start with one state and two nodes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Install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use Python 3.10+ and install the current langgraph package.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Model state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begin with MessagesState or a minimal typed schema.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Draw the loop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add only the model, tools, routes, and explicit termination you need.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Compile &amp; test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exercise branches, retries, invalid tools, and termination.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Add durability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attach a checkpointer early and choose a stable thread_id strategy.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Use current v1 APIs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prefer langchain.agents.create_agent over deprecated create_react_agent.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REFERENCE — OFFICIAL SOURCES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Official docs are the source of truth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Overview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docs.langchain.com/oss/python/langgraph/overview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Graph API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docs.langchain.com/oss/python/langgraph/graph-api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Persistence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docs.langchain.com/oss/python/langgraph/persistence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Interrupts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docs.langchain.com/oss/python/langgraph/interrupts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Subgraphs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docs.langchain.com/oss/python/langgraph/use-subgraphs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LangSmith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docs.langchain.com/langsmith/observability  •  /evaluation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11801</TotalTime>
  <Words>1203</Words>
  <Application>Microsoft Office PowerPoint</Application>
  <PresentationFormat>Custom</PresentationFormat>
  <Paragraphs>134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LangGraph for Stateful,
Controllable Agents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Venkateshkumar Singaravelu</cp:lastModifiedBy>
  <cp:revision>214</cp:revision>
  <dcterms:created xsi:type="dcterms:W3CDTF">2021-10-09T09:31:30Z</dcterms:created>
  <dcterms:modified xsi:type="dcterms:W3CDTF">2026-09-27T07:12:19Z</dcterms:modified>
</cp:coreProperties>
</file>