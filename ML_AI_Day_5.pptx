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330" r:id="rId5"/>
    <p:sldId id="331" r:id="rId6"/>
    <p:sldId id="368" r:id="rId7"/>
    <p:sldId id="369" r:id="rId8"/>
    <p:sldId id="332" r:id="rId9"/>
    <p:sldId id="333" r:id="rId10"/>
    <p:sldId id="366" r:id="rId11"/>
    <p:sldId id="367" r:id="rId12"/>
    <p:sldId id="334" r:id="rId13"/>
    <p:sldId id="335" r:id="rId14"/>
    <p:sldId id="364" r:id="rId15"/>
    <p:sldId id="365" r:id="rId16"/>
    <p:sldId id="336" r:id="rId17"/>
    <p:sldId id="337" r:id="rId18"/>
    <p:sldId id="362" r:id="rId19"/>
    <p:sldId id="363" r:id="rId20"/>
    <p:sldId id="338" r:id="rId21"/>
    <p:sldId id="339" r:id="rId22"/>
    <p:sldId id="360" r:id="rId23"/>
    <p:sldId id="361" r:id="rId24"/>
    <p:sldId id="340" r:id="rId25"/>
    <p:sldId id="341" r:id="rId26"/>
    <p:sldId id="358" r:id="rId27"/>
    <p:sldId id="359" r:id="rId28"/>
    <p:sldId id="342" r:id="rId29"/>
    <p:sldId id="343" r:id="rId30"/>
    <p:sldId id="356" r:id="rId31"/>
    <p:sldId id="357" r:id="rId32"/>
    <p:sldId id="344" r:id="rId33"/>
    <p:sldId id="345" r:id="rId34"/>
    <p:sldId id="354" r:id="rId35"/>
    <p:sldId id="355" r:id="rId36"/>
    <p:sldId id="346" r:id="rId37"/>
    <p:sldId id="347" r:id="rId38"/>
    <p:sldId id="352" r:id="rId39"/>
    <p:sldId id="353" r:id="rId40"/>
    <p:sldId id="348" r:id="rId41"/>
    <p:sldId id="349" r:id="rId42"/>
    <p:sldId id="350" r:id="rId43"/>
    <p:sldId id="351" r:id="rId44"/>
    <p:sldId id="370" r:id="rId45"/>
    <p:sldId id="371" r:id="rId46"/>
    <p:sldId id="260" r:id="rId47"/>
  </p:sldIdLst>
  <p:sldSz cx="10080625" cy="55800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8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5" d="100"/>
          <a:sy n="85" d="100"/>
        </p:scale>
        <p:origin x="40" y="40"/>
      </p:cViewPr>
      <p:guideLst>
        <p:guide orient="horz" pos="1758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36A8E-CA61-4566-A6D1-006F7BF71CD6}" type="datetimeFigureOut">
              <a:rPr lang="en-AE" smtClean="0"/>
              <a:t>12/07/2026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2938" y="1143000"/>
            <a:ext cx="5572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DE410-CB79-4446-B85D-134BAA55D0D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9374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1733437"/>
            <a:ext cx="8568531" cy="1196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3162036"/>
            <a:ext cx="7056438" cy="14260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1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10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3585707"/>
            <a:ext cx="8568531" cy="11082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2365069"/>
            <a:ext cx="8568531" cy="12206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87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4785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0601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29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249056"/>
            <a:ext cx="4454027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1769603"/>
            <a:ext cx="4454027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249056"/>
            <a:ext cx="4455776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1769603"/>
            <a:ext cx="4455776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09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774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2" y="222169"/>
            <a:ext cx="3316456" cy="94551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245" y="222170"/>
            <a:ext cx="5635349" cy="476242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032" y="1167680"/>
            <a:ext cx="3316456" cy="38169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59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73" y="3906044"/>
            <a:ext cx="6048375" cy="46113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5873" y="498589"/>
            <a:ext cx="6048375" cy="33480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5873" y="4367175"/>
            <a:ext cx="6048375" cy="6548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86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37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7499" y="182127"/>
            <a:ext cx="2500906" cy="38737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4785" y="182127"/>
            <a:ext cx="7334704" cy="3873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84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302015"/>
            <a:ext cx="9072563" cy="3682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31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214" y="5171892"/>
            <a:ext cx="3192198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448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281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" y="0"/>
            <a:ext cx="10058400" cy="556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43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20" y="4011"/>
            <a:ext cx="10095445" cy="5589586"/>
          </a:xfrm>
        </p:spPr>
      </p:pic>
    </p:spTree>
    <p:extLst>
      <p:ext uri="{BB962C8B-B14F-4D97-AF65-F5344CB8AC3E}">
        <p14:creationId xmlns:p14="http://schemas.microsoft.com/office/powerpoint/2010/main" val="123636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3AB77E-1721-8D81-90D5-5B9C9E30CCAC}"/>
              </a:ext>
            </a:extLst>
          </p:cNvPr>
          <p:cNvSpPr txBox="1"/>
          <p:nvPr/>
        </p:nvSpPr>
        <p:spPr>
          <a:xfrm>
            <a:off x="504031" y="32961"/>
            <a:ext cx="87847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latin typeface="Arial" panose="020B0604020202020204" pitchFamily="34" charset="0"/>
              </a:rPr>
              <a:t>Table Of Contents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0" name="TOC Left"/>
          <p:cNvSpPr txBox="1"/>
          <p:nvPr/>
        </p:nvSpPr>
        <p:spPr>
          <a:xfrm>
            <a:off x="650000" y="1330000"/>
            <a:ext cx="4250000" cy="3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01  </a:t>
            </a:r>
            <a:r>
              <a:rPr lang="en-US" sz="1500" dirty="0">
                <a:solidFill>
                  <a:srgbClr val="222222"/>
                </a:solidFill>
                <a:latin typeface="Arial" panose="020B0604020202020204" pitchFamily="34" charset="0"/>
              </a:rPr>
              <a:t>Introduction to Machine Learning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02  </a:t>
            </a:r>
            <a:r>
              <a:rPr lang="en-US" sz="1500" dirty="0">
                <a:solidFill>
                  <a:srgbClr val="222222"/>
                </a:solidFill>
                <a:latin typeface="Arial" panose="020B0604020202020204" pitchFamily="34" charset="0"/>
              </a:rPr>
              <a:t>Python &amp; Data Essentials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03  </a:t>
            </a:r>
            <a:r>
              <a:rPr lang="en-US" sz="1500" dirty="0">
                <a:solidFill>
                  <a:srgbClr val="222222"/>
                </a:solidFill>
                <a:latin typeface="Arial" panose="020B0604020202020204" pitchFamily="34" charset="0"/>
              </a:rPr>
              <a:t>Data Preprocessing &amp; Cleaning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04  </a:t>
            </a:r>
            <a:r>
              <a:rPr lang="en-US" sz="1500" dirty="0">
                <a:solidFill>
                  <a:srgbClr val="222222"/>
                </a:solidFill>
                <a:latin typeface="Arial" panose="020B0604020202020204" pitchFamily="34" charset="0"/>
              </a:rPr>
              <a:t>Exploratory Data Analysis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05  </a:t>
            </a:r>
            <a:r>
              <a:rPr lang="en-US" sz="1500" dirty="0">
                <a:solidFill>
                  <a:srgbClr val="222222"/>
                </a:solidFill>
                <a:latin typeface="Arial" panose="020B0604020202020204" pitchFamily="34" charset="0"/>
              </a:rPr>
              <a:t>Supervised Learning: Regression</a:t>
            </a:r>
          </a:p>
        </p:txBody>
      </p:sp>
      <p:sp>
        <p:nvSpPr>
          <p:cNvPr id="11" name="TOC Right"/>
          <p:cNvSpPr txBox="1"/>
          <p:nvPr/>
        </p:nvSpPr>
        <p:spPr>
          <a:xfrm>
            <a:off x="5180000" y="1330000"/>
            <a:ext cx="4250000" cy="3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06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Supervised Learning: Classification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07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Model Evaluation &amp; Validation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08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Unsupervised Learning &amp; Clustering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09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Feature Engineering &amp; Selection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10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Next Steps &amp; Real-World Projects</a:t>
            </a:r>
          </a:p>
        </p:txBody>
      </p:sp>
    </p:spTree>
    <p:extLst>
      <p:ext uri="{BB962C8B-B14F-4D97-AF65-F5344CB8AC3E}">
        <p14:creationId xmlns:p14="http://schemas.microsoft.com/office/powerpoint/2010/main" val="3793148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Heading"/>
          <p:cNvSpPr txBox="1"/>
          <p:nvPr/>
        </p:nvSpPr>
        <p:spPr>
          <a:xfrm>
            <a:off x="504031" y="36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solidFill>
                  <a:srgbClr val="333333"/>
                </a:solidFill>
                <a:latin typeface="Arial" panose="020B0604020202020204" pitchFamily="34" charset="0"/>
              </a:rPr>
              <a:t>Introduction to Machine Learning</a:t>
            </a:r>
          </a:p>
        </p:txBody>
      </p:sp>
      <p:sp>
        <p:nvSpPr>
          <p:cNvPr id="11" name="Rule"/>
          <p:cNvSpPr/>
          <p:nvPr/>
        </p:nvSpPr>
        <p:spPr>
          <a:xfrm>
            <a:off x="514031" y="115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Definition"/>
          <p:cNvSpPr txBox="1"/>
          <p:nvPr/>
        </p:nvSpPr>
        <p:spPr>
          <a:xfrm>
            <a:off x="504031" y="133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333333"/>
                </a:solidFill>
                <a:latin typeface="Arial" panose="020B0604020202020204" pitchFamily="34" charset="0"/>
              </a:rPr>
              <a:t>Machine learning is a way of teaching computers to learn from data. Instead of following rules written by hand, the system finds patterns in examples and gets better at a task over time.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Systems that learn patterns from data and improve with experience, rather than following hard-coded rules.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Types of ML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Supervised learning from labelled examples, unsupervised learning that groups data, and reinforcement learning through feedback.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Matters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It powers everyday tools like recommendations, forecasts, spam filters, image recognition, and fraud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Machine Learning: Key Concepts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Data &amp; Features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examples and measurable inputs a model learns from.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Model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learned relationship that maps inputs to outputs.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Training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fitting the model to examples so it captures patterns.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Prediction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using the trained model to answer new, unseen cases.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Generalization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performing well on data the model has never seen.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AI, ML &amp; Deep Learning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nested ideas, from broad AI to data-driven ML to neural networks.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Introduction to Machine Learning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An online store wants to suggest products each shopper is likely to buy.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Past purchases and browsing history for many customers.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model learns patterns linking shoppers to products.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ranked list of suggested products for each visitor.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Introduction to Machine Learning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Machine learning systems mainly learn from…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Hand-written rules only    B) Labelled and unlabelled data    C) Random guesses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Which is an example of a machine learning task?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Sorting a list alphabetically    B) Adding two numbers    C) Predicting house prices from data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"Generalization" means a model…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Works well on new, unseen data    B) Memorizes the training data    C) Simply runs faster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Python &amp; Data Essentials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Python is the most popular language for machine learning because it is easy to read and has a rich set of ready-made tools for working with data.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Python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Simple, readable syntax with a huge community and libraries for every step.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Core Libraries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NumPy, Pandas, Matplotlib, and scikit-learn cover most ML tasks.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Working with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Load, explore, and reshape data before feeding it to a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Python &amp; Data Essentials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NumPy Arrays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fast numerical arrays and vectorized math for large datasets.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Pandas DataFrames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labelled tables for real-world, spreadsheet-like data.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Loading Data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read from CSV, Excel, and databases into your program.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Data Types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numbers, text, dates, and categories each handled differently.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Vectorization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operate on whole arrays at once instead of slow loops.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Plotting Basics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quick charts with Matplotlib to see what the data says.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Python &amp; Data Essentials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data analyst explores a sales spreadsheet using Python.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CSV file with dates, products, and amounts.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Pandas loads it into a DataFrame; NumPy totals the sales.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Summary tables and a quick chart of monthly sales.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Python &amp; Data Essentials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Which library gives fast numerical arrays?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NumPy    B) Pandas    C) Matplotlib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Pandas DataFrame is best described as…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 single number    B) A labelled table of data    C) An image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Vectorization helps by…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Using slow loops    B) Deleting data    C) Operating on whole arrays at once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Data Preprocessing &amp; Cleaning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Real data is messy. Cleaning and preparing it is often most of the work, and a model can only be as good as the data you give it.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Matters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Clean inputs lead to trustworthy models and fewer surprises later.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Common Issues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Missing values, duplicates, inconsistent formats, and outliers.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Tidy, consistent, model-ready data you can rely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Data Preprocessing &amp; Cleaning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Missing Values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remove rows or fill gaps with sensible estimates.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Encoding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turn categories like colour or city into numbers.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Scaling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put features on a comparable range so none dominates.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Outliers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find and handle extreme values that can mislead a model.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Train/Test Split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hold back some data to test performance honestly.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Pipelines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chain steps together so preparation is repeatable and safe.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Data Preprocessing &amp; Cleaning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customer table has blank ages and inconsistent city names.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Raw records with missing and mismatched values.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Fill missing ages, standardize text, encode categories.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clean, consistent table that is ready to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Data Preprocessing &amp; Cleaning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common way to handle missing values is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Fill them with a sensible estimate    B) Ignore the whole dataset    C) Duplicate random rows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Encoding is used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Delete columns    B) Turn categories into numbers    C) Draw charts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Scaling features ensures…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Data is deleted    B) Text is translated    C) One feature does not dominate others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Exploratory Data Analysis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Before building a model, you get to know your data. Exploration reveals patterns, surprises, and quality issues that shape every later decision.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first, curious look at your data using stats and charts.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Tools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Summary numbers and simple visualizations tell the story.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Payoff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Spot patterns, catch errors, and find useful features early.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Exploratory Data Analysis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Summary Statistics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mean, median, and spread describe each column.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Distributions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histograms show how values are spread out.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Relationships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scatter plots and correlation link features together.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Grouping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compare segments to see where behaviour differs.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Data Quality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surface missing values and odd outliers early.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Insights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form hypotheses that guide how you model the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Exploratory Data Analysis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An analyst studies a housing dataset before modelling.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Columns such as size, location, and price.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Plot histograms and scatter plots; check correlations.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Insight that price rises with size and varies by area.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Exploratory Data Analysis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histogram is used to show…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How values are distributed    B) The final model    C) Missing files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Correlation measures…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File size    B) How two variables move together    C) Code speed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EDA is done…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After deployment    B) Instead of collecting data    C) Before building the model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Regression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Regression predicts a continuous number, like a price or a temperature, by learning the relationship between inputs and a known numeric answer.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Predict a number from labelled examples with known answers.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Examples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House prices, product demand, or tomorrow’s temperature.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How It Works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Fit a line or curve that best matches the data points.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Regression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Linear Regression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model straight-line relationships between inputs and output.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Multiple Features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combine many inputs to improve predictions.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Cost Function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measure how far predictions are from the truth.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Gradient Descent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adjust the model step by step to reduce error.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Overfitting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when a model memorizes noise instead of the pattern.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Metrics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MAE, MSE, and R² score how well the model fits.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Regression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company predicts next month’s sales revenue.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Past sales, advertising spend, and season.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Linear regression fits a line to the history.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predicted revenue figure for the coming month.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Regression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Regression predicts…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 continuous number    B) A category    C) A cluster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Which metric suits regression?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Accuracy    B) Mean Squared Error    C) Recall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Overfitting means the model…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Is too simple    B) Has no features    C) Memorizes noise and fails on new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Classification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Classification predicts a category or label, such as spam or not-spam, by learning boundaries that separate the different classes.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Predict a label or class from labelled training examples.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Examples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Spam detection, image labels, or a yes/no diagnosis.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How It Works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Learn boundaries that separate one class from another.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Classification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Logistic Regression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estimate the probability of belonging to a class.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Decision Trees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ask a series of yes/no questions to decide.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k-Nearest Neighbors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classify a point by looking at its neighbours.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Multi-class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handle problems with more than two labels.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Decision Boundary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dividing line the model learns between classes.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Class Imbalance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care needed when one label is far more common.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Classification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An email service flags incoming mail as spam or not.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Email text and sender features, each labelled.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classifier learns the boundary between the classes.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Every new email is labelled spam or not-spam.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Classification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Classification predicts…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 number    B) A category or label    C) A trend line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Logistic regression outputs…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 probability for a class    B) A cluster centre    C) A raw image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k-Nearest Neighbors classifies a point by…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Sorting numbers    B) Random choice    C) Its nearest neighbours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Model Evaluation &amp; Validation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A model is only useful if it works on new data. Evaluation tests it fairly so you can trust its performance in the real world.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Matters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Know whether your model truly works before you rely on it.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Idea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Always test on data the model has not seen during training.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Honest, reliable estimates of real-world performance.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Model Evaluation &amp; Validation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Train/Val/Test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split data into learning, tuning, and final-check roles.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Cross-Validation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rotate through folds for a stable estimate.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Confusion Matrix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see correct and incorrect predictions by class.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Precision &amp; Recall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balance false alarms against missed cases.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ROC &amp; AUC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measure ranking quality across decision thresholds.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Bias vs Variance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balance between underfitting and overfitting.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Model Evaluation &amp; Validation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team checks whether a disease-detection model is reliable.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test set the model never saw in training.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Compute a confusion matrix, precision, and recall.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clear view of correct and missed predictions.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Model Evaluation &amp; Validation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Models should be tested on…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The training data    B) New, unseen data    C) No data at all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confusion matrix shows…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Correct vs incorrect predictions    B) File paths    C) Colour choices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Cross-validation helps by…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Deleting data    B) Speeding training only    C) Giving a more stable estimate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Unsupervised Learning &amp; Clustering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Unsupervised learning finds structure in data that has no labels, grouping similar items together to reveal hidden patterns.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Discover structure and groups without any labelled answers.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Examples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Customer segments, topic groups, or anomaly detection.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How It Works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Group items by how similar they are to each other.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Unsupervised Learning &amp; Clustering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Clustering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group similar data points into natural sets.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K-Means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partition data into k groups around centres.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Hierarchical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build nested clusters from the bottom up.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Dimensionality Reduction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simplify data while keeping the signal.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PCA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capture the main directions of variation in the data.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Evaluation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measures like silhouette judge cluster quality.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Unsupervised Learning &amp; Clustering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shop groups customers with similar buying habits.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Purchase amount and frequency, with no labels.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K-Means sorts customers into clusters.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Segments like frequent buyers and occasional shoppers.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Unsupervised Learning &amp; Clustering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Unsupervised learning works with data that is…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Fully labelled    B) Unlabelled    C) Always images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K-Means is used for…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Clustering    B) Regression    C) Encoding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PCA is mainly used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Add noise    B) Label data    C) Reduce the number of features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Feature Engineering &amp; Selection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Good features often matter more than fancy algorithms. This is the craft of shaping raw data into inputs that help a model learn.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Create and refine the inputs a model learns from.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Matters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Strong features often beat more complex algorithms.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Balance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Add useful signal while removing noise and clutter.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Feature Engineering &amp; Selection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New Features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combine or transform columns to expose patterns.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Encoding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represent categories as numbers a model can use.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Scaling &amp; Binning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reshape ranges and group values into buckets.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Feature Selection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keep the inputs that matter, drop the rest.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Feature Importance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rank how much each input affects predictions.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Avoiding Leakage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never let future or answer data sneak in.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Feature Engineering &amp; Selection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team improves a loan-approval model.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Raw fields such as birth date and income.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Build an age feature, scale income, drop weak columns.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Stronger inputs that lift the model’s accuracy.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Feature Engineering &amp; Selection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Feature engineering is about…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Creating better inputs for a model    B) Buying servers    C) Writing reports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Feature selection aims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Add every column    B) Keep useful inputs and drop the rest    C) Delete all data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Data leakage happens when…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Files are large    B) Charts are colourful    C) Future or answer data sneaks into training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Next Steps &amp; Real-World Projects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With the fundamentals in place, the best way to grow is to build. Real projects tie every step together and deepen your skills.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Bring It Together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Combine each step into one complete ML workflow.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Practice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Build projects end to end on datasets you care about.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Keep Growing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Keep learning, sharing, and refining your craft.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Next Steps &amp; Real-World Projects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End-to-End Project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go from raw data all the way to a working model.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Finding Data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explore Kaggle and open datasets to practise on.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Deep Learning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neural networks as a powerful next step.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Deployment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put a model into an app so others can use it.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Ethics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consider fairness, privacy, and transparency throughout.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Portfolio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showcase projects to demonstrate your skills.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Next Steps &amp; Real-World Projects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learner builds a movie-recommendation project end to end.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public movie-ratings dataset.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Clean data, train a model, evaluate, then deploy.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working demo that suggests movies to users.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Next Steps &amp; Real-World Projects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good source of practice datasets is…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Kaggle and open data    B) Random text    C) Blank files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Deployment means…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Deleting the model    B) Putting a model into an app people can use    C) Printing the code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Responsible ML considers…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Only speed    B) Nothing in particular    C) Fairness, privacy, and transparency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COURSE REVIEW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Answer Key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AKCol1"/>
          <p:cNvSpPr txBox="1"/>
          <p:nvPr/>
        </p:nvSpPr>
        <p:spPr>
          <a:xfrm>
            <a:off x="504031" y="1640000"/>
            <a:ext cx="4300000" cy="33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1 — Introduction to Machine Learning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B, C, A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2 — Python &amp; Data Essentials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C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3 — Data Preprocessing &amp; Cleaning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C</a:t>
            </a:r>
          </a:p>
        </p:txBody>
      </p:sp>
      <p:sp>
        <p:nvSpPr>
          <p:cNvPr id="21" name="AKCol2"/>
          <p:cNvSpPr txBox="1"/>
          <p:nvPr/>
        </p:nvSpPr>
        <p:spPr>
          <a:xfrm>
            <a:off x="5276531" y="1640000"/>
            <a:ext cx="4300000" cy="33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4 — Exploratory Data Analysis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C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5 — Supervised Learning: Regression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COURSE REVIEW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Answer Key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AKCol1"/>
          <p:cNvSpPr txBox="1"/>
          <p:nvPr/>
        </p:nvSpPr>
        <p:spPr>
          <a:xfrm>
            <a:off x="504031" y="1640000"/>
            <a:ext cx="4300000" cy="33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6 — Supervised Learning: Classification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B, A, C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7 — Model Evaluation &amp; Validation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B, A, C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8 — Unsupervised Learning &amp; Clustering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B, A, C</a:t>
            </a:r>
          </a:p>
        </p:txBody>
      </p:sp>
      <p:sp>
        <p:nvSpPr>
          <p:cNvPr id="21" name="AKCol2"/>
          <p:cNvSpPr txBox="1"/>
          <p:nvPr/>
        </p:nvSpPr>
        <p:spPr>
          <a:xfrm>
            <a:off x="5276531" y="1640000"/>
            <a:ext cx="4300000" cy="33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9 — Feature Engineering &amp; Selection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C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10 — Next Steps &amp; Real-World Projects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C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43" y="-1320"/>
            <a:ext cx="10098067" cy="5591039"/>
          </a:xfrm>
        </p:spPr>
      </p:pic>
    </p:spTree>
    <p:extLst>
      <p:ext uri="{BB962C8B-B14F-4D97-AF65-F5344CB8AC3E}">
        <p14:creationId xmlns:p14="http://schemas.microsoft.com/office/powerpoint/2010/main" val="2923551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11717</TotalTime>
  <Words>3060</Words>
  <Application>Microsoft Office PowerPoint</Application>
  <PresentationFormat>Custom</PresentationFormat>
  <Paragraphs>384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Venkateshkumar Singaravelu</cp:lastModifiedBy>
  <cp:revision>214</cp:revision>
  <dcterms:created xsi:type="dcterms:W3CDTF">2021-10-09T09:31:30Z</dcterms:created>
  <dcterms:modified xsi:type="dcterms:W3CDTF">2026-07-12T10:37:32Z</dcterms:modified>
</cp:coreProperties>
</file>