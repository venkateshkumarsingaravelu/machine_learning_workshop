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388" r:id="rId3"/>
    <p:sldId id="330" r:id="rId4"/>
    <p:sldId id="372" r:id="rId5"/>
    <p:sldId id="331" r:id="rId6"/>
    <p:sldId id="376" r:id="rId7"/>
    <p:sldId id="368" r:id="rId8"/>
    <p:sldId id="389" r:id="rId9"/>
    <p:sldId id="369" r:id="rId10"/>
    <p:sldId id="373" r:id="rId11"/>
    <p:sldId id="377" r:id="rId12"/>
    <p:sldId id="374" r:id="rId13"/>
    <p:sldId id="378" r:id="rId14"/>
    <p:sldId id="384" r:id="rId15"/>
    <p:sldId id="390" r:id="rId16"/>
    <p:sldId id="379" r:id="rId17"/>
    <p:sldId id="386" r:id="rId18"/>
    <p:sldId id="391" r:id="rId19"/>
    <p:sldId id="375" r:id="rId20"/>
    <p:sldId id="380" r:id="rId21"/>
    <p:sldId id="381" r:id="rId22"/>
    <p:sldId id="385" r:id="rId23"/>
    <p:sldId id="392" r:id="rId24"/>
    <p:sldId id="382" r:id="rId25"/>
    <p:sldId id="387" r:id="rId26"/>
    <p:sldId id="393" r:id="rId27"/>
    <p:sldId id="383" r:id="rId28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4" y="536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custSel addSld delSld modSld">
      <pc:chgData name="Venkateshkumar Singaravelu" userId="79d9a579347d75e3" providerId="LiveId" clId="{33F179D8-C598-449D-8BBB-2B4198C98BC6}" dt="2026-09-06T10:21:19.270" v="7" actId="27636"/>
      <pc:docMkLst>
        <pc:docMk/>
      </pc:docMkLst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69043358" sldId="256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1236366825" sldId="257"/>
        </pc:sldMkLst>
      </pc:sldChg>
      <pc:sldChg chg="delSp modSp mod">
        <pc:chgData name="Venkateshkumar Singaravelu" userId="79d9a579347d75e3" providerId="LiveId" clId="{33F179D8-C598-449D-8BBB-2B4198C98BC6}" dt="2026-09-06T10:21:19.199" v="6" actId="26606"/>
        <pc:sldMkLst>
          <pc:docMk/>
          <pc:sldMk cId="3793148430" sldId="258"/>
        </pc:sldMkLst>
        <pc:spChg chg="del">
          <ac:chgData name="Venkateshkumar Singaravelu" userId="79d9a579347d75e3" providerId="LiveId" clId="{33F179D8-C598-449D-8BBB-2B4198C98BC6}" dt="2026-09-06T10:16:05.558" v="0" actId="26606"/>
          <ac:spMkLst>
            <pc:docMk/>
            <pc:sldMk cId="3793148430" sldId="258"/>
            <ac:spMk id="2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3793148430" sldId="258"/>
            <ac:spMk id="3" creationId="{A23AB77E-1721-8D81-90D5-5B9C9E30CCAC}"/>
          </ac:spMkLst>
        </pc:spChg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3793148430" sldId="25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3793148430" sldId="258"/>
            <ac:spMk id="11" creationId="{00000000-0000-0000-0000-000000000000}"/>
          </ac:spMkLst>
        </pc:spChg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2923551494" sldId="260"/>
        </pc:sldMkLst>
      </pc:sldChg>
      <pc:sldChg chg="modSp mod">
        <pc:chgData name="Venkateshkumar Singaravelu" userId="79d9a579347d75e3" providerId="LiveId" clId="{33F179D8-C598-449D-8BBB-2B4198C98BC6}" dt="2026-09-06T10:16:05.627" v="1" actId="27636"/>
        <pc:sldMkLst>
          <pc:docMk/>
          <pc:sldMk cId="0" sldId="330"/>
        </pc:sldMkLst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3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627" v="1" actId="27636"/>
          <ac:spMkLst>
            <pc:docMk/>
            <pc:sldMk cId="0" sldId="330"/>
            <ac:spMk id="12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3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3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3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31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31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3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3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31"/>
            <ac:spMk id="21" creationId="{00000000-0000-0000-0000-000000000000}"/>
          </ac:spMkLst>
        </pc:spChg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2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3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4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5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6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7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8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39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0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1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2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3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4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5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6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7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8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49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0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1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2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3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4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5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6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7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8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59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0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1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2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3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4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5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6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67"/>
        </pc:sldMkLst>
      </pc:sldChg>
      <pc:sldChg chg="modSp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68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6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69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69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9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9-06T10:16:05.558" v="0" actId="26606"/>
          <ac:spMkLst>
            <pc:docMk/>
            <pc:sldMk cId="0" sldId="369"/>
            <ac:spMk id="22" creationId="{00000000-0000-0000-0000-000000000000}"/>
          </ac:spMkLst>
        </pc:spChg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70"/>
        </pc:sldMkLst>
      </pc:sldChg>
      <pc:sldChg chg="del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71"/>
        </pc:sldMkLst>
      </pc:sldChg>
      <pc:sldChg chg="modSp add mod">
        <pc:chgData name="Venkateshkumar Singaravelu" userId="79d9a579347d75e3" providerId="LiveId" clId="{33F179D8-C598-449D-8BBB-2B4198C98BC6}" dt="2026-09-06T10:16:05.635" v="2" actId="27636"/>
        <pc:sldMkLst>
          <pc:docMk/>
          <pc:sldMk cId="0" sldId="372"/>
        </pc:sldMkLst>
        <pc:spChg chg="mod">
          <ac:chgData name="Venkateshkumar Singaravelu" userId="79d9a579347d75e3" providerId="LiveId" clId="{33F179D8-C598-449D-8BBB-2B4198C98BC6}" dt="2026-09-06T10:16:05.635" v="2" actId="27636"/>
          <ac:spMkLst>
            <pc:docMk/>
            <pc:sldMk cId="0" sldId="372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16:05.663" v="3" actId="27636"/>
        <pc:sldMkLst>
          <pc:docMk/>
          <pc:sldMk cId="0" sldId="373"/>
        </pc:sldMkLst>
        <pc:spChg chg="mod">
          <ac:chgData name="Venkateshkumar Singaravelu" userId="79d9a579347d75e3" providerId="LiveId" clId="{33F179D8-C598-449D-8BBB-2B4198C98BC6}" dt="2026-09-06T10:16:05.663" v="3" actId="27636"/>
          <ac:spMkLst>
            <pc:docMk/>
            <pc:sldMk cId="0" sldId="373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16:05.671" v="4" actId="27636"/>
        <pc:sldMkLst>
          <pc:docMk/>
          <pc:sldMk cId="0" sldId="374"/>
        </pc:sldMkLst>
        <pc:spChg chg="mod">
          <ac:chgData name="Venkateshkumar Singaravelu" userId="79d9a579347d75e3" providerId="LiveId" clId="{33F179D8-C598-449D-8BBB-2B4198C98BC6}" dt="2026-09-06T10:16:05.671" v="4" actId="27636"/>
          <ac:spMkLst>
            <pc:docMk/>
            <pc:sldMk cId="0" sldId="374"/>
            <ac:spMk id="12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16:05.690" v="5" actId="27636"/>
        <pc:sldMkLst>
          <pc:docMk/>
          <pc:sldMk cId="0" sldId="375"/>
        </pc:sldMkLst>
        <pc:spChg chg="mod">
          <ac:chgData name="Venkateshkumar Singaravelu" userId="79d9a579347d75e3" providerId="LiveId" clId="{33F179D8-C598-449D-8BBB-2B4198C98BC6}" dt="2026-09-06T10:16:05.690" v="5" actId="27636"/>
          <ac:spMkLst>
            <pc:docMk/>
            <pc:sldMk cId="0" sldId="375"/>
            <ac:spMk id="12" creationId="{00000000-0000-0000-0000-000000000000}"/>
          </ac:spMkLst>
        </pc:spChg>
      </pc:sldChg>
      <pc:sldChg chg="add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76"/>
        </pc:sldMkLst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77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77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78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78"/>
            <ac:spMk id="10" creationId="{00000000-0000-0000-0000-000000000000}"/>
          </ac:spMkLst>
        </pc:spChg>
      </pc:sldChg>
      <pc:sldChg chg="add">
        <pc:chgData name="Venkateshkumar Singaravelu" userId="79d9a579347d75e3" providerId="LiveId" clId="{33F179D8-C598-449D-8BBB-2B4198C98BC6}" dt="2026-09-06T10:16:05.558" v="0" actId="26606"/>
        <pc:sldMkLst>
          <pc:docMk/>
          <pc:sldMk cId="0" sldId="379"/>
        </pc:sldMkLst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0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0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1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1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2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2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3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3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4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4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5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5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6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6"/>
            <ac:spMk id="10" creationId="{00000000-0000-0000-0000-000000000000}"/>
          </ac:spMkLst>
        </pc:spChg>
      </pc:sldChg>
      <pc:sldChg chg="modSp add mo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7"/>
        </pc:sldMkLst>
        <pc:spChg chg="mod">
          <ac:chgData name="Venkateshkumar Singaravelu" userId="79d9a579347d75e3" providerId="LiveId" clId="{33F179D8-C598-449D-8BBB-2B4198C98BC6}" dt="2026-09-06T10:21:19.199" v="6" actId="26606"/>
          <ac:spMkLst>
            <pc:docMk/>
            <pc:sldMk cId="0" sldId="387"/>
            <ac:spMk id="10" creationId="{00000000-0000-0000-0000-000000000000}"/>
          </ac:spMkLst>
        </pc:spChg>
      </pc:sldChg>
      <pc:sldChg chg="ad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8"/>
        </pc:sldMkLst>
      </pc:sldChg>
      <pc:sldChg chg="ad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89"/>
        </pc:sldMkLst>
      </pc:sldChg>
      <pc:sldChg chg="ad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90"/>
        </pc:sldMkLst>
      </pc:sldChg>
      <pc:sldChg chg="ad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91"/>
        </pc:sldMkLst>
      </pc:sldChg>
      <pc:sldChg chg="add">
        <pc:chgData name="Venkateshkumar Singaravelu" userId="79d9a579347d75e3" providerId="LiveId" clId="{33F179D8-C598-449D-8BBB-2B4198C98BC6}" dt="2026-09-06T10:21:19.199" v="6" actId="26606"/>
        <pc:sldMkLst>
          <pc:docMk/>
          <pc:sldMk cId="0" sldId="392"/>
        </pc:sldMkLst>
      </pc:sldChg>
      <pc:sldChg chg="modSp add mod">
        <pc:chgData name="Venkateshkumar Singaravelu" userId="79d9a579347d75e3" providerId="LiveId" clId="{33F179D8-C598-449D-8BBB-2B4198C98BC6}" dt="2026-09-06T10:21:19.270" v="7" actId="27636"/>
        <pc:sldMkLst>
          <pc:docMk/>
          <pc:sldMk cId="0" sldId="393"/>
        </pc:sldMkLst>
        <pc:spChg chg="mod">
          <ac:chgData name="Venkateshkumar Singaravelu" userId="79d9a579347d75e3" providerId="LiveId" clId="{33F179D8-C598-449D-8BBB-2B4198C98BC6}" dt="2026-09-06T10:21:19.270" v="7" actId="27636"/>
          <ac:spMkLst>
            <pc:docMk/>
            <pc:sldMk cId="0" sldId="393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06/09/2026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>
                <a:latin typeface="Arial" panose="020B0604020202020204" pitchFamily="34" charset="0"/>
              </a:rPr>
              <a:t>Tool Calling, MCP &amp; </a:t>
            </a:r>
            <a:r>
              <a:rPr lang="en-US" altLang="en-US" sz="2800" b="1" dirty="0">
                <a:latin typeface="Arial" panose="020B0604020202020204" pitchFamily="34" charset="0"/>
              </a:rPr>
              <a:t>AI </a:t>
            </a:r>
            <a:r>
              <a:rPr lang="en-US" altLang="en-US" sz="2800" b="1">
                <a:latin typeface="Arial" panose="020B0604020202020204" pitchFamily="34" charset="0"/>
              </a:rPr>
              <a:t>Agents</a:t>
            </a: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" name="TOC Left"/>
          <p:cNvSpPr txBox="1"/>
          <p:nvPr/>
        </p:nvSpPr>
        <p:spPr>
          <a:xfrm>
            <a:off x="65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01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Welcome &amp; Outcomes — 15 min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02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Tool Calling Concepts — 25 min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03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Tool Demo &amp; Practice — 35 min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04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Method-Calling Quiz — 5 min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05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MCP Concepts &amp; Architecture — 40 min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1" name="TOC Right"/>
          <p:cNvSpPr txBox="1"/>
          <p:nvPr/>
        </p:nvSpPr>
        <p:spPr>
          <a:xfrm>
            <a:off x="518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06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MCP Protocol &amp; Lab — 35 min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07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MCP Quiz — 10 min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08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Break — 15 min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09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Agents, Lab &amp; Quiz — 85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10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Capstone + Review — 35 min</a:t>
            </a: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CLASS PLAN - 5 HOURS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Five-Hour Learning Journey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0:00–0:15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Welcome, outcomes, and the action-stack mental model.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0:15–1:20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Tool calling: concepts, live demo, practice, and quiz.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1:20–2:45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MCP: architecture, protocol, build lab, and quiz.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2:45–3:00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Break.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3:00–4:25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Agents: loop, orchestration, demo, lab, reliability, and quiz.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4:25–5:00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Capstone design challenge and course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From Text Generation to Action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A model can propose language. Tool calling supplies trusted data and actions; MCP standardizes how capabilities connect; agents decide which step to take next.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Model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Interprets the goal, reasons over context, and proposes the next response or action.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Tools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Typed functions connect the model to application-owned data and operations.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Agent Loop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Observes results and chooses the next step until done, blocked, or escalated.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Tool Calling Is a Controlled Request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Also called function or method calling, it lets a model request a named capability with structured arguments. Your application validates and executes it—the model does not run the code itself.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Tool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capability you describe to the model with a name, purpose, and input schema.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Tool Call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model returns a request containing the selected tool and proposed arguments.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Tool Output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Your application returns a structured result that the model can use in its next turn.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CONCEPTS (25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The Five-Step Tool-Calling Loop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1. Describe Tools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Send names, descriptions, and typed input schemas.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2. Ask the Model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Provide the user request plus the available tools.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3. Receive a Call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Read the selected tool, call ID, and proposed arguments.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4. Execute Safely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Validate, authorize, and run code in your application.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5. Return Output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Send the structured result back with the matching call ID.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Continue or Finish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model answers—or requests another tool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DESIGN GUIDANCE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Good Tools Are Small, Explicit Contracts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Clear Names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Use verbs and domain nouns: get_order_status, not lookup.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Tight Schemas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Require essential fields, constrain values, reject extras.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Useful Descriptions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State when to call, what it returns, and key limits.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Least Privilege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Expose only the data and actions the task needs.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Structured Errors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Return retryable, user, and permission errors distinctly.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Trace Everything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Log selections, arguments, latency, outputs, and approvals.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LIVE DEMO (15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Example: A Weather Lookup Tool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Answer “What is the weather in Dubai?” while the application keeps execution control.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Define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get_weather(location: str) → {temp_c, condition}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Execute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Validate args; call the API; return a mock typed result for the exercise.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Continue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Send output to the model; receive a clear answer or another tool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PRACTICE (20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Practice: Complete the Tool Loop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Team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Turn a weather lookup into a safe end-to-end tool call, using a mock result if no API key is available.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Design — 5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Write the tool name, description, required location field, and structured output.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Build — 10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Parse the requested call, validate arguments, execute the mock function, and return its output.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Debrief — 5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Identify where authorization, error handling, retries, and logging belong.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01 - QUIZ (5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Method Calling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Who actually executes a custom function?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model    B) Your application    C) The JSON schema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What is the schema’s main job?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Define a typed contract    B) Store secrets    C) Run the code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After receiving tool output, the model may…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Answer or call another tool    B) Retrain itself    C) Bypass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MCP Standardizes AI Connections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925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The Model Context Protocol is an open standard for connecting AI applications to external systems. It standardizes discovery and exchange—not how an agent reasons or manages its plan.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Exists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Replace one-off integrations with a consistent way to connect context and capabilities.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Connects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Data sources, callable tools, and reusable workflows exposed by focused servers.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Stays Local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host retains the user experience, model choice, permissions, and context policy.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CONCEPTS (40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MCP Separates Responsibilities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Host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User-facing AI application; manages clients, consent, policy, and model context.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Client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Protocol component created by the host for one server connection.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Server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Focused service exposing tools, resources, and prompts.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Transport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Local STDIO or remote Streamable HTTP carries messages.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Messages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JSON-RPC-based requests, results, errors, and notifications.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Boundary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Servers stay isolated; the host decides what is trusted and aggregated.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MCP Exposes Three Core Primitives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A server presents typed capabilities through a small set of building blocks. Control differs by primitive, so design the user experience and permissions accordingly.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Tools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Model-selectable actions: query a system, create an event, or trigger a workflow.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Resources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Application-selected, generally read-oriented context such as files, schemas, or records.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Prompts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User-selected reusable instruction templates that package a preferred workflow.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PROTOCOL &amp; DEMO (15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Stateless Requests Carry Routing Context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Discover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Optionally list capabilities before choosing a primitive.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Describe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Each request carries protocol version and relevant capabilities.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Route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Method and name metadata support gateway authorization and routing.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Execute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server handles the requested tool, resource, or prompt operation.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Return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 structured result or error comes back to the client.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Continue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host decides what reaches the model and whether another step runs.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PROTOCOL &amp; DEMO (15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Example: An Order-Status MCP Server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Read order status through a focused server without granting direct database access.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Server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Expose get_order_status(order_id: string) with a typed result.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Client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Discover tools, then call with {order_id: “A-1042”}.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Boundary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Validate identity; query an allowed view; require approval before any write.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BUILD LAB (20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Lab: Design an Order MCP Server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Team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Create a minimal server contract that supports safe order lookup without direct database access.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Map — 5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Choose which capabilities should be tools, resources, or prompts—and justify each choice.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Specify — 10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Write the tool schema, success result, not-found error, and authorization boundary.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Threat Review — 5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Check consent, least privilege, tenant isolation, prompt injection, and auditability.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SECURITY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Security Belongs at Every Boundary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Consent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Ask before side effects, external sharing, or consequential actions.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Least Privilege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Minimize functionality, permissions, and autonomous reach.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Validate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Treat tool arguments and outputs as untrusted structured input.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Isolate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Separate servers, credentials, tenants, and high-risk operations.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Defend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Treat retrieved content as data; detect direct and indirect injection.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Audit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Trace calls, apply timeouts, support cancellation, and keep approvals.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02 - QUIZ (10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Model Context Protocol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An MCP host typically creates…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One client for every server    B) No clients    C) One global server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Which set names the core server primitives?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Tools, resources, prompts    B) Models, tokens, GPUs    C) Users, logs, caches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Does MCP define how an agent plans?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Always    B) Only for remote servers    C) No; it focuses on context exchange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15-Minute Break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Pause after the MCP section. The class resumes at 3:00 elapsed time with agent design and orchestration.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Reset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Step away from the screen and return ready to design an agent loop.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Keep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Leave your tool and MCP exercise notes open for the agent lab.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Restart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We begin with the difference between a fixed workflow and an adaptive agent.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Agents Choose the Next Step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An agent is an LLM-based system that dynamically directs its process and tool use toward a goal. A workflow follows predefined code paths; an agent chooses what to do next.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Instructions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Define the goal, boundaries, operating policy, and completion criteria.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Tools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Provide focused actions and knowledge sources with explicit contracts.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Runtime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Manages turns, state, handoffs, guardrails, budgets, and stop conditions.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CONCEPTS (35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The Agent Loop: Observe, Decide, Act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Interpret Goal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Resolve intent, constraints, available context, and success criteria.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Plan Next Step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Choose the smallest useful action—not a full speculative plan.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Call a Tool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Submit structured arguments within the granted permissions.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Observe Result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Read outputs, errors, uncertainty, and changes to state.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Adapt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Revise the next action, ask for missing input, or hand off.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Stop or Escalate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Finish, hit a budget, request approval, or return control.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CONCEPTS (35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Use the Simplest Reliable Orchestration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Direct Model Call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Use for a single deterministic language task.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Single Agent + Tools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Strong default for varied requests in one domain.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Sequential Workflow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Fixed stages where order and repeatability matter.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Manager + Specialists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One agent keeps control and calls focused agents as tools.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Handoffs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Transfer ownership when a specialist should drive the conversation.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Concurrent Specialists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Parallelize independent work; reconcile results explicitly.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LIVE DEMO (10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Example: A Guarded Support Agent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Lab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Resolve “Where is my order, and can I refund it?” without unrestricted access.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Triage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Check status first; evaluate refund intent only after order validation.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Tools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Status is read-only; refund requires confirmation and an idempotency key.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Handoff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Pass minimal validated context to a refund specialist; preserve the audit trail.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DESIGN LAB (25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Lab: Specify a Support Agent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Team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Design a support agent that can answer order questions and request—but never silently issue—a refund.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Scope — 7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Define its goal, available context, completion rule, refusal boundary, and escalation trigger.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Orchestrate — 10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Choose tools and a refund handoff; define what context crosses each boundary.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Make Reliable — 8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Add approvals, guardrails, tracing fields, budgets, and three evaluation scenarios.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RELIABILITY (10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Reliable Agents Are Measured Systems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Guardrails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Validate initial input, every sensitive tool call, and final output.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Tracing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Capture model turns, tool calls, handoffs, latency, and failures.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Eval Sets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Test realistic multi-turn tasks, not only final-answer wording.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Budgets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Limit turns, tokens, cost, tool calls, and elapsed time.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Human Approval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Gate irreversible, high-impact, or low-confidence actions.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Fallback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Retry safely, degrade capability, or return control with context.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03 - QUIZ (5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AI Agents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An agent differs from a fixed workflow because it…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Always uses many models    B) Dynamically chooses next steps    C) Never uses tools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What is the best orchestration starting point?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Maximum autonomy    B) Many agents    C) The simplest reliable design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Guardrails and tracing primarily provide…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Validation and observability    B) Faster GPUs    C) Unlimited permissions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CAPSTONE - TEAM CHALLENGE (25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Design a Useful, Safe Agentic Solution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Deliverable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one-page architecture and a 60-second explanation showing where tool calling, MCP, and the agent loop each belong.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Choose — 5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Pick one scenario: IT help desk, travel planning, sales research, or document operations.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Design — 12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Define the agent goal, tools, MCP servers, permissions, stop conditions, and approval points.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Share — 8 min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Explain one design trade-off, one failure mode, and how you would evaluate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 (10 MIN)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Answers &amp; References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Method-Calling Quiz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B, A, A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MCP Quiz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A, A, C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Agents Quiz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B, C, A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OpenAI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Function Calling guide; Agents SDK documentation.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MCP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2026-07-28 architecture, introduction, and server concepts.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Security &amp; Design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OWASP GenAI risks; Microsoft and Anthropic agent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14043</TotalTime>
  <Words>2360</Words>
  <Application>Microsoft Office PowerPoint</Application>
  <PresentationFormat>Custom</PresentationFormat>
  <Paragraphs>233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216</cp:revision>
  <dcterms:created xsi:type="dcterms:W3CDTF">2021-10-09T09:31:30Z</dcterms:created>
  <dcterms:modified xsi:type="dcterms:W3CDTF">2026-09-06T10:21:29Z</dcterms:modified>
</cp:coreProperties>
</file>