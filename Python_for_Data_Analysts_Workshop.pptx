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042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2743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23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" cy="822960"/>
          </a:xfrm>
          <a:prstGeom prst="ellipse">
            <a:avLst/>
          </a:prstGeom>
          <a:solidFill>
            <a:srgbClr val="2323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4" name="Image 0" descr="/home/claude/python-workshop/icons/python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83759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51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ANALYSTS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3063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Basics: Errors, Files &amp; Pandas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full-day, hands-on workshop for analysts ready to move from scripts to real-world data workflows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5029200"/>
            <a:ext cx="1266444" cy="384048"/>
          </a:xfrm>
          <a:prstGeom prst="roundRect">
            <a:avLst>
              <a:gd name="adj" fmla="val 50000"/>
            </a:avLst>
          </a:prstGeom>
          <a:solidFill>
            <a:srgbClr val="23234A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457200" y="5029200"/>
            <a:ext cx="1266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888236" y="5029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3234A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8"/>
          <p:cNvSpPr/>
          <p:nvPr/>
        </p:nvSpPr>
        <p:spPr>
          <a:xfrm>
            <a:off x="1888236" y="5029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24428" y="5029200"/>
            <a:ext cx="1266444" cy="384048"/>
          </a:xfrm>
          <a:prstGeom prst="roundRect">
            <a:avLst>
              <a:gd name="adj" fmla="val 50000"/>
            </a:avLst>
          </a:prstGeom>
          <a:solidFill>
            <a:srgbClr val="23234A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0"/>
          <p:cNvSpPr/>
          <p:nvPr/>
        </p:nvSpPr>
        <p:spPr>
          <a:xfrm>
            <a:off x="3424428" y="5029200"/>
            <a:ext cx="1266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46904" y="5029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Prerequisites covered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Full-Day Workshop  •  Hands-On Exercises  •  Knowledge Checks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D43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modules, building toward a real analyst workflow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4F5FA"/>
          </a:solidFill>
          <a:ln/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45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3108960" y="2286000"/>
            <a:ext cx="640080" cy="640080"/>
          </a:xfrm>
          <a:prstGeom prst="ellipse">
            <a:avLst/>
          </a:prstGeom>
          <a:solidFill>
            <a:srgbClr val="F4511E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9" name="Image 0" descr="/home/claude/python-workshop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579" y="243961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31520" y="36118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Python that fails gracefully — try/except, custom exceptions, debugging real errors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52120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0"/>
          <p:cNvSpPr/>
          <p:nvPr/>
        </p:nvSpPr>
        <p:spPr>
          <a:xfrm>
            <a:off x="731520" y="5212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hrs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33672" y="201168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4F5FA"/>
          </a:solidFill>
          <a:ln/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Text 12"/>
          <p:cNvSpPr/>
          <p:nvPr/>
        </p:nvSpPr>
        <p:spPr>
          <a:xfrm>
            <a:off x="4507992" y="2194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Shape 13"/>
          <p:cNvSpPr/>
          <p:nvPr/>
        </p:nvSpPr>
        <p:spPr>
          <a:xfrm>
            <a:off x="6885432" y="228600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7" name="Image 1" descr="/home/claude/python-workshop/icons/fold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051" y="2439619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07992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I/O &amp; Data Prep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4507992" y="36118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write, and clean real files — text, CSV, JSON — before they ever reach a DataFrame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507992" y="52120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7"/>
          <p:cNvSpPr/>
          <p:nvPr/>
        </p:nvSpPr>
        <p:spPr>
          <a:xfrm>
            <a:off x="4507992" y="5212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hrs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010144" y="201168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4F5FA"/>
          </a:solidFill>
          <a:ln/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Text 19"/>
          <p:cNvSpPr/>
          <p:nvPr/>
        </p:nvSpPr>
        <p:spPr>
          <a:xfrm>
            <a:off x="8284464" y="2194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24" name="Shape 20"/>
          <p:cNvSpPr/>
          <p:nvPr/>
        </p:nvSpPr>
        <p:spPr>
          <a:xfrm>
            <a:off x="10661904" y="22860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5" name="Image 2" descr="/home/claude/python-workshop/icons/tab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5523" y="2439619"/>
            <a:ext cx="332842" cy="33284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284464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Basics</a:t>
            </a:r>
            <a:endParaRPr lang="en-US" sz="1900" dirty="0"/>
          </a:p>
        </p:txBody>
      </p:sp>
      <p:sp>
        <p:nvSpPr>
          <p:cNvPr id="27" name="Text 22"/>
          <p:cNvSpPr/>
          <p:nvPr/>
        </p:nvSpPr>
        <p:spPr>
          <a:xfrm>
            <a:off x="8284464" y="36118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explore, filter, group, and summarize tabular data like an analyst, not a programmer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8284464" y="52120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24"/>
          <p:cNvSpPr/>
          <p:nvPr/>
        </p:nvSpPr>
        <p:spPr>
          <a:xfrm>
            <a:off x="8284464" y="5212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hrs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module: concept walkthrough  →  live code  →  hands-on exercise  →  quiz check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D43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Analysts Need This — Not Just Developers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777240" cy="777240"/>
          </a:xfrm>
          <a:prstGeom prst="ellipse">
            <a:avLst/>
          </a:prstGeom>
          <a:solidFill>
            <a:srgbClr val="F4511E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6" name="Image 0" descr="/home/claude/python-workshop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21524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 is messy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3040" y="23774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files, malformed rows, wrong types — production scripts must survive it, not crash on it.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383280"/>
            <a:ext cx="777240" cy="777240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0" name="Image 1" descr="/home/claude/python-workshop/icons/fold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8" y="356981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337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rarely starts as a DataFrame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463040" y="3794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starts as a CSV export, a JSON API response, or a folder of logs you must read first.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4" name="Image 2" descr="/home/claude/python-workshop/icons/tab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8" y="4987138"/>
            <a:ext cx="404165" cy="4041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4754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is the analyst's daily tool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463040" y="5212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grouping, and summarizing in Pandas replaces hours of manual spreadsheet work.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0" y="196596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1A1A2E"/>
          </a:solidFill>
          <a:ln/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Text 13"/>
          <p:cNvSpPr/>
          <p:nvPr/>
        </p:nvSpPr>
        <p:spPr>
          <a:xfrm>
            <a:off x="6400800" y="23317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7200" dirty="0"/>
          </a:p>
        </p:txBody>
      </p:sp>
      <p:sp>
        <p:nvSpPr>
          <p:cNvPr id="19" name="Text 14"/>
          <p:cNvSpPr/>
          <p:nvPr/>
        </p:nvSpPr>
        <p:spPr>
          <a:xfrm>
            <a:off x="6858000" y="35204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typical analysis is spent finding, cleaning, and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 data — before any chart or model exists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858000" y="4526280"/>
            <a:ext cx="4389120" cy="0"/>
          </a:xfrm>
          <a:prstGeom prst="line">
            <a:avLst/>
          </a:prstGeom>
          <a:noFill/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6"/>
          <p:cNvSpPr/>
          <p:nvPr/>
        </p:nvSpPr>
        <p:spPr>
          <a:xfrm>
            <a:off x="6858000" y="47548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the gap this workshop closes: the messy middle between raw files and clean insight.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8046720" y="54864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232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005840" cy="1005840"/>
          </a:xfrm>
          <a:prstGeom prst="ellipse">
            <a:avLst/>
          </a:prstGeom>
          <a:solidFill>
            <a:srgbClr val="F4511E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5" name="Image 0" descr="/home/claude/python-workshop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2" y="225308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Python that fails gracefully instead of crashing on bad data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52120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try / except basics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55046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Multiple &amp; specific exceptions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57972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finally and else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08990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Raising custom errors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Debugging real tracebacks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85416" cy="365760"/>
          </a:xfrm>
          <a:prstGeom prst="roundRect">
            <a:avLst>
              <a:gd name="adj" fmla="val 20000"/>
            </a:avLst>
          </a:prstGeom>
          <a:solidFill>
            <a:srgbClr val="F4511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Your Scripts Crash on Real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bugs in your logic — they're the data fighting back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640080" cy="640080"/>
          </a:xfrm>
          <a:prstGeom prst="ellipse">
            <a:avLst/>
          </a:prstGeom>
          <a:solidFill>
            <a:srgbClr val="F4511E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8" name="Image 0" descr="/home/claude/python-workshop/icons/f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" y="23938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1762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FileNotFoundError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257860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CSV path is wrong, or the file simply isn't there yet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80760" y="201168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Shape 9"/>
          <p:cNvSpPr/>
          <p:nvPr/>
        </p:nvSpPr>
        <p:spPr>
          <a:xfrm>
            <a:off x="6309360" y="2240280"/>
            <a:ext cx="640080" cy="640080"/>
          </a:xfrm>
          <a:prstGeom prst="ellipse">
            <a:avLst/>
          </a:prstGeom>
          <a:solidFill>
            <a:srgbClr val="F4511E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3" name="Image 1" descr="/home/claude/python-workshop/icons/warning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979" y="239389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21762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086600" y="257860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has "N/A" where you expected a number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57200" y="384048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Shape 13"/>
          <p:cNvSpPr/>
          <p:nvPr/>
        </p:nvSpPr>
        <p:spPr>
          <a:xfrm>
            <a:off x="685800" y="4069080"/>
            <a:ext cx="640080" cy="640080"/>
          </a:xfrm>
          <a:prstGeom prst="ellipse">
            <a:avLst/>
          </a:prstGeom>
          <a:solidFill>
            <a:srgbClr val="F4511E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8" name="Image 2" descr="/home/claude/python-workshop/icons/puzz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" y="422269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40050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KeyError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463040" y="440740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or dict key you assumed exists... doesn't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080760" y="384048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Shape 17"/>
          <p:cNvSpPr/>
          <p:nvPr/>
        </p:nvSpPr>
        <p:spPr>
          <a:xfrm>
            <a:off x="6309360" y="4069080"/>
            <a:ext cx="640080" cy="640080"/>
          </a:xfrm>
          <a:prstGeom prst="ellipse">
            <a:avLst/>
          </a:prstGeom>
          <a:solidFill>
            <a:srgbClr val="F4511E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3" name="Image 3" descr="/home/claude/python-workshop/icons/time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2979" y="422269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86600" y="40050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ZeroDivisionError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086600" y="440740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denominator (e.g. a count) turns out to be zero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catch the predictable failures, surface the unpredictable ones clearly, and never let a script die silently mid-pipeline.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4511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SYNTAX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try / except Block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400800" cy="3749040"/>
          </a:xfrm>
          <a:prstGeom prst="roundRect">
            <a:avLst>
              <a:gd name="adj" fmla="val 1951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621792" y="15636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804672" y="15636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987552" y="15636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731520" y="1801368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parse_revenue(value):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float(value)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ValueError: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print(f"Skipping bad value: {value!r}")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None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Used while cleaning a revenue column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raw_values = ["1200", "980", "N/A", "1550"]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= [parse_revenue(v) for v in raw_values]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print(clean)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[1200.0, 980.0, None, 1550.0]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78040" y="1417320"/>
            <a:ext cx="4526280" cy="868680"/>
          </a:xfrm>
          <a:prstGeom prst="roundRect">
            <a:avLst>
              <a:gd name="adj" fmla="val 10526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7360920" y="149047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
</a:t>
            </a:r>
            <a:endParaRPr lang="en-US" sz="14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might fail goes here — keep it short and specific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78040" y="2468880"/>
            <a:ext cx="4526280" cy="868680"/>
          </a:xfrm>
          <a:prstGeom prst="roundRect">
            <a:avLst>
              <a:gd name="adj" fmla="val 10526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7360920" y="254203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
</a:t>
            </a:r>
            <a:endParaRPr lang="en-US" sz="14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if that error type occurs; the script keeps going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78040" y="3520440"/>
            <a:ext cx="4526280" cy="868680"/>
          </a:xfrm>
          <a:prstGeom prst="roundRect">
            <a:avLst>
              <a:gd name="adj" fmla="val 10526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7360920" y="359359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
</a:t>
            </a:r>
            <a:endParaRPr lang="en-US" sz="14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row no longer kills the entire pipeline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78040" y="4617720"/>
            <a:ext cx="4526280" cy="1371600"/>
          </a:xfrm>
          <a:prstGeom prst="roundRect">
            <a:avLst>
              <a:gd name="adj" fmla="val 6667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7360920" y="4782312"/>
            <a:ext cx="457200" cy="457200"/>
          </a:xfrm>
          <a:prstGeom prst="ellipse">
            <a:avLst/>
          </a:prstGeom>
          <a:solidFill>
            <a:srgbClr val="FFF1B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8" name="Image 0" descr="/home/claude/python-workshop/icons/bulb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4892040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955280" y="4690872"/>
            <a:ext cx="36118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only the line that can fail, not the whole function — easier to know exactly what broke.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4511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SYNTAX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Multiple Failure Modes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621792" y="15636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804672" y="15636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987552" y="15636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731520" y="1801368"/>
            <a:ext cx="6217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load_row(row):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amount = float(row["amount"])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category = row["category"]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KeyError as e: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print(f"Missing column: {e}")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None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ValueError: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print(f"Bad amount: {row['amount']!r}")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None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print("Row parsed successfully")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{"amount": amount, "category": category}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finally: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print("Row processing attempted")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0" y="1463040"/>
            <a:ext cx="4206240" cy="1325880"/>
          </a:xfrm>
          <a:prstGeom prst="roundRect">
            <a:avLst>
              <a:gd name="adj" fmla="val 6897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772668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A, except 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26680" y="199339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error types get different, specific handling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2971800"/>
            <a:ext cx="4206240" cy="1325880"/>
          </a:xfrm>
          <a:prstGeom prst="roundRect">
            <a:avLst>
              <a:gd name="adj" fmla="val 6897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7726680" y="3108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26680" y="350215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if the try block succeeded with no error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4480560"/>
            <a:ext cx="4206240" cy="1325880"/>
          </a:xfrm>
          <a:prstGeom prst="roundRect">
            <a:avLst>
              <a:gd name="adj" fmla="val 6897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7726680" y="4617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26680" y="501091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runs — success, failure, or anything in between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4511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SYNTAX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Your Own Errors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silence is worse than a loud, clear failure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6675120" cy="2880360"/>
          </a:xfrm>
          <a:prstGeom prst="roundRect">
            <a:avLst>
              <a:gd name="adj" fmla="val 2540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21792" y="19751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804672" y="19751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987552" y="19751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731520" y="2212848"/>
            <a:ext cx="6126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calculate_growth_rate(current, previous):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previous == 0: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"Cannot calculate growth: previous value is 0"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(current - previous) / previous * 100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rate = calculate_growth_rate(500, 0)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 as e: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print(f"Calculation error: {e}")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rate = None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06640" y="1828800"/>
            <a:ext cx="4297680" cy="2880360"/>
          </a:xfrm>
          <a:prstGeom prst="roundRect">
            <a:avLst>
              <a:gd name="adj" fmla="val 3175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7635240" y="1993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raise instead of return None?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35240" y="246888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silent None can quietly propagate through later calculations
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exception forces the caller to notice and decide what to do
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error messages save debugging time for the next person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685800" y="5093208"/>
            <a:ext cx="548640" cy="548640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6" name="Image 0" descr="/home/claude/python-workshop/icons/termin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5224882"/>
            <a:ext cx="285293" cy="28529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71600" y="5093208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 </a:t>
            </a: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specific, descriptive exceptions close to where the problem occurs — not generic </a:t>
            </a:r>
            <a:r>
              <a:rPr lang="en-US" sz="13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catches far away from the cause.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4511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DEBUGGING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Traceback Without Panic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Tracebacks read bottom-up — the last line is the real error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6766560" cy="2377440"/>
          </a:xfrm>
          <a:prstGeom prst="roundRect">
            <a:avLst>
              <a:gd name="adj" fmla="val 3077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21792" y="20665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804672" y="20665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987552" y="20665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731520" y="2304288"/>
            <a:ext cx="6217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Traceback (most recent call last):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 "analysis.py", line 14, in &lt;module&gt;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 = total_sales / num_transactions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 "analysis.py", line 9, in compute_average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 / count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ZeroDivisionError: division by zero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06640" y="1920240"/>
            <a:ext cx="457200" cy="457200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7406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01000" y="190195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the bottom  </a:t>
            </a:r>
            <a:r>
              <a:rPr lang="en-US" sz="12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ZeroDivisionError — this is the actual error type and message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06640" y="2761488"/>
            <a:ext cx="457200" cy="457200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740664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01000" y="2743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up one frame  </a:t>
            </a:r>
            <a:r>
              <a:rPr lang="en-US" sz="12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line of YOUR code triggered it (line 9)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406640" y="3602736"/>
            <a:ext cx="457200" cy="457200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740664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01000" y="358444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call chain  </a:t>
            </a:r>
            <a:r>
              <a:rPr lang="en-US" sz="12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above shows who called what, in order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2323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r>
              <a:rPr lang="en-US" sz="14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intentionally break a script together and trace the error back to its source line by line.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73452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73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 1.1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5" name="Image 0" descr="/home/claude/python-workshop/icons/too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870" y="5175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Bulletproof the Sales Calculator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692640" y="841248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F4F5FA"/>
          </a:solidFill>
          <a:ln w="12700">
            <a:solidFill>
              <a:srgbClr val="E3E5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5"/>
          <p:cNvSpPr/>
          <p:nvPr/>
        </p:nvSpPr>
        <p:spPr>
          <a:xfrm>
            <a:off x="9820656" y="91440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9" name="Image 1" descr="/home/claude/python-workshop/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4664" y="978408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149840" y="84124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inherited a script that computes average order value from a sales list. It crashes whenever the data isn't perfectly clean.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25146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Wrap the division in try/except to catch ZeroDivisionError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Catch ValueError for any non-numeric entries in the list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Raise a custom ValueError if the input list is empty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Make the function return None on failure instead of crashing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5074920"/>
            <a:ext cx="6035040" cy="1371600"/>
          </a:xfrm>
          <a:prstGeom prst="roundRect">
            <a:avLst>
              <a:gd name="adj" fmla="val 6667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Shape 10"/>
          <p:cNvSpPr/>
          <p:nvPr/>
        </p:nvSpPr>
        <p:spPr>
          <a:xfrm>
            <a:off x="640080" y="5257800"/>
            <a:ext cx="457200" cy="457200"/>
          </a:xfrm>
          <a:prstGeom prst="ellipse">
            <a:avLst/>
          </a:prstGeom>
          <a:solidFill>
            <a:srgbClr val="FFF1B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5" name="Image 2" descr="/home/claude/python-workshop/icons/bulb_yel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36752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5138928"/>
            <a:ext cx="51206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each item with float() inside the try block — that's where ValueError will naturally surface.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720840" y="1371600"/>
            <a:ext cx="4983480" cy="5074920"/>
          </a:xfrm>
          <a:prstGeom prst="roundRect">
            <a:avLst>
              <a:gd name="adj" fmla="val 1468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3"/>
          <p:cNvSpPr/>
          <p:nvPr/>
        </p:nvSpPr>
        <p:spPr>
          <a:xfrm>
            <a:off x="6885432" y="15179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Shape 14"/>
          <p:cNvSpPr/>
          <p:nvPr/>
        </p:nvSpPr>
        <p:spPr>
          <a:xfrm>
            <a:off x="7068312" y="15179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Shape 15"/>
          <p:cNvSpPr/>
          <p:nvPr/>
        </p:nvSpPr>
        <p:spPr>
          <a:xfrm>
            <a:off x="7251192" y="15179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6"/>
          <p:cNvSpPr/>
          <p:nvPr/>
        </p:nvSpPr>
        <p:spPr>
          <a:xfrm>
            <a:off x="6995160" y="1755648"/>
            <a:ext cx="4434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average_order_value(orders):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sum(orders)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len(orders)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 = total / count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avg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cases to handle: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average_order_value([120, 85, "N/A", 200])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average_order_value([])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average_order_value([0, 0])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D43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CHECK 1 OF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5" name="Image 0" descr="/home/claude/python-workshop/icons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870" y="5175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if no exception type matches the error raised inside a try block?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5"/>
          <p:cNvSpPr/>
          <p:nvPr/>
        </p:nvSpPr>
        <p:spPr>
          <a:xfrm>
            <a:off x="685800" y="2560320"/>
            <a:ext cx="502920" cy="502920"/>
          </a:xfrm>
          <a:prstGeom prst="ellipse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25880" y="2441448"/>
            <a:ext cx="4389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silently ignores it and continues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233172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hape 9"/>
          <p:cNvSpPr/>
          <p:nvPr/>
        </p:nvSpPr>
        <p:spPr>
          <a:xfrm>
            <a:off x="6492240" y="25603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0"/>
          <p:cNvSpPr/>
          <p:nvPr/>
        </p:nvSpPr>
        <p:spPr>
          <a:xfrm>
            <a:off x="64922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132320" y="2441448"/>
            <a:ext cx="4389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program crashes with an unhandled traceback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74904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3"/>
          <p:cNvSpPr/>
          <p:nvPr/>
        </p:nvSpPr>
        <p:spPr>
          <a:xfrm>
            <a:off x="685800" y="3977640"/>
            <a:ext cx="502920" cy="502920"/>
          </a:xfrm>
          <a:prstGeom prst="ellipse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4"/>
          <p:cNvSpPr/>
          <p:nvPr/>
        </p:nvSpPr>
        <p:spPr>
          <a:xfrm>
            <a:off x="6858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325880" y="3858768"/>
            <a:ext cx="4389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automatically retries the try block once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63640" y="374904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Shape 17"/>
          <p:cNvSpPr/>
          <p:nvPr/>
        </p:nvSpPr>
        <p:spPr>
          <a:xfrm>
            <a:off x="6492240" y="3977640"/>
            <a:ext cx="502920" cy="502920"/>
          </a:xfrm>
          <a:prstGeom prst="ellipse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8"/>
          <p:cNvSpPr/>
          <p:nvPr/>
        </p:nvSpPr>
        <p:spPr>
          <a:xfrm>
            <a:off x="6492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132320" y="3858768"/>
            <a:ext cx="4389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converts it to a warning instead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553212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DCEF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ext 21"/>
          <p:cNvSpPr/>
          <p:nvPr/>
        </p:nvSpPr>
        <p:spPr>
          <a:xfrm>
            <a:off x="731520" y="553212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B.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unmatched exception propagates up and crashes the program — except clauses only catch the specific types you list.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54864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232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005840" cy="1005840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4" name="Image 0" descr="/home/claude/python-workshop/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2" y="2253082"/>
            <a:ext cx="523037" cy="523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I/O &amp; Data Prep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real-world files into Python before they ever reach a DataFrame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52120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Reading &amp; writing text files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55046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'with' statement &amp; why it matters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57972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Working with CSV files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08990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Reading &amp; writing JSON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Combining file I/O with error handling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SYNTAX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with Statement: Files Done Right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766560" cy="2743200"/>
          </a:xfrm>
          <a:prstGeom prst="roundRect">
            <a:avLst>
              <a:gd name="adj" fmla="val 2667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621792" y="15636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804672" y="15636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987552" y="15636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731520" y="1801368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Reading a file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open("sales_notes.txt", "r") as f: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contents = f.read()        # whole file as one string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or: f.readlines()        # list of lines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or: for line in f: ...   # loop line by line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Writing a file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open("summary.txt", "w") as f: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f.write("Total revenue: $48,200\n")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f.write("Top region: West\n")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452360" y="1417320"/>
            <a:ext cx="4251960" cy="2743200"/>
          </a:xfrm>
          <a:prstGeom prst="roundRect">
            <a:avLst>
              <a:gd name="adj" fmla="val 3333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7680960" y="1572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with, not open()/close()?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80960" y="205740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closes the file, even if an error happens mid-read
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 of forgetting f.close() and leaking file handles
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standard, expected pattern in any production code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11247120" cy="1554480"/>
          </a:xfrm>
          <a:prstGeom prst="roundRect">
            <a:avLst>
              <a:gd name="adj" fmla="val 5882"/>
            </a:avLst>
          </a:prstGeom>
          <a:solidFill>
            <a:srgbClr val="FDE3D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685800" y="4663440"/>
            <a:ext cx="594360" cy="594360"/>
          </a:xfrm>
          <a:prstGeom prst="ellipse">
            <a:avLst/>
          </a:prstGeom>
          <a:solidFill>
            <a:srgbClr val="FCD7C4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5" name="Image 0" descr="/home/claude/python-workshop/icons/warning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4806086"/>
            <a:ext cx="309067" cy="30906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17320" y="457200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pitfall: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file that doesn't exist raises </a:t>
            </a:r>
            <a:r>
              <a:rPr lang="en-US" sz="1350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FileNotFoundError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Always combine file access with try/except in real scripts — never assume the path is valid.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SYNTAX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CSV Files with the csv Module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Pandas, it's worth knowing what's happening underneath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6675120" cy="2743200"/>
          </a:xfrm>
          <a:prstGeom prst="roundRect">
            <a:avLst>
              <a:gd name="adj" fmla="val 2667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21792" y="19293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804672" y="19293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987552" y="19293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731520" y="2167128"/>
            <a:ext cx="6126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csv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open("orders.csv", "r") as f: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reader = csv.DictReader(f)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row in reader: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print(row["order_id"], row["amount"])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row is a dict per line, e.g.: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{'order_id': '1042', 'amount': '199.99',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'region': 'West'}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0" y="1783080"/>
            <a:ext cx="548640" cy="548640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2" name="Image 0" descr="/home/claude/python-workshop/icons/csv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034" y="1914754"/>
            <a:ext cx="285293" cy="28529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138160" y="18562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DictReader vs reader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452360" y="242316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csv.reader gives plain lists per row; csv.DictReader uses the header row as keys — far more readable for analyst work.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52360" y="3337560"/>
            <a:ext cx="4251960" cy="960120"/>
          </a:xfrm>
          <a:prstGeom prst="roundRect">
            <a:avLst>
              <a:gd name="adj" fmla="val 9524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3"/>
          <p:cNvSpPr/>
          <p:nvPr/>
        </p:nvSpPr>
        <p:spPr>
          <a:xfrm>
            <a:off x="7680960" y="345643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CSV is a string  </a:t>
            </a: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even "199.99" — you must cast it yourself with float() or int().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Module 3 hands this job to Pandas — but understanding the raw mechanics makes you far better at debugging when Pandas' import doesn't behave as expected.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SYNTAX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&amp; Writing JSON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 you'll meet constantly when pulling data from APIs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6675120" cy="2926080"/>
          </a:xfrm>
          <a:prstGeom prst="roundRect">
            <a:avLst>
              <a:gd name="adj" fmla="val 2500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21792" y="19293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804672" y="19293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987552" y="19293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731520" y="2167128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Reading JSON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open("config.json", "r") as f: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 = json.load(f)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print(config["region_filter"])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Writing JSON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{"total": 48200, "region": "West"}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open("results.json", "w") as f: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json.dump(results, f, indent=2)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52360" y="17830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↔ Python type mapping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52360" y="2240280"/>
            <a:ext cx="4251960" cy="365760"/>
          </a:xfrm>
          <a:prstGeom prst="roundRect">
            <a:avLst>
              <a:gd name="adj" fmla="val 15000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758952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object {}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537192" y="2322576"/>
            <a:ext cx="201168" cy="201168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5" name="Image 0" descr="/home/claude/python-workshop/icons/arrow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68" y="2359152"/>
            <a:ext cx="128016" cy="12801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8298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dict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52360" y="2660904"/>
            <a:ext cx="42519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5"/>
          <p:cNvSpPr/>
          <p:nvPr/>
        </p:nvSpPr>
        <p:spPr>
          <a:xfrm>
            <a:off x="7589520" y="26609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array []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537192" y="2743200"/>
            <a:ext cx="201168" cy="201168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0" name="Image 1" descr="/home/claude/python-workshop/icons/arrow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68" y="2779776"/>
            <a:ext cx="128016" cy="12801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829800" y="26609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list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7452360" y="3081528"/>
            <a:ext cx="4251960" cy="365760"/>
          </a:xfrm>
          <a:prstGeom prst="roundRect">
            <a:avLst>
              <a:gd name="adj" fmla="val 15000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Text 19"/>
          <p:cNvSpPr/>
          <p:nvPr/>
        </p:nvSpPr>
        <p:spPr>
          <a:xfrm>
            <a:off x="7589520" y="3081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string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9537192" y="3163824"/>
            <a:ext cx="201168" cy="201168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5" name="Image 2" descr="/home/claude/python-workshop/icons/arrow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68" y="3200400"/>
            <a:ext cx="128016" cy="12801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829800" y="3081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str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7452360" y="3502152"/>
            <a:ext cx="42519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8" name="Text 23"/>
          <p:cNvSpPr/>
          <p:nvPr/>
        </p:nvSpPr>
        <p:spPr>
          <a:xfrm>
            <a:off x="7589520" y="3502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number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9537192" y="3584448"/>
            <a:ext cx="201168" cy="201168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30" name="Image 3" descr="/home/claude/python-workshop/icons/arrow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68" y="3621024"/>
            <a:ext cx="128016" cy="12801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829800" y="3502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int / float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7452360" y="3922776"/>
            <a:ext cx="4251960" cy="365760"/>
          </a:xfrm>
          <a:prstGeom prst="roundRect">
            <a:avLst>
              <a:gd name="adj" fmla="val 15000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3" name="Text 27"/>
          <p:cNvSpPr/>
          <p:nvPr/>
        </p:nvSpPr>
        <p:spPr>
          <a:xfrm>
            <a:off x="7589520" y="39227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null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9537192" y="4005072"/>
            <a:ext cx="201168" cy="201168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35" name="Image 4" descr="/home/claude/python-workshop/icons/arrow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68" y="4041648"/>
            <a:ext cx="128016" cy="12801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829800" y="39227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None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457200" y="475488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8" name="Shape 31"/>
          <p:cNvSpPr/>
          <p:nvPr/>
        </p:nvSpPr>
        <p:spPr>
          <a:xfrm>
            <a:off x="685800" y="4937760"/>
            <a:ext cx="594360" cy="594360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39" name="Image 5" descr="/home/claude/python-workshop/icons/data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" y="5080406"/>
            <a:ext cx="309067" cy="309067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417320" y="484632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context:  </a:t>
            </a:r>
            <a:r>
              <a:rPr lang="en-US" sz="13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internal APIs and dashboards exchange data as JSON. Knowing json.load()/json.dump() means you can pull and save data without waiting on an engineer.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337560" cy="365760"/>
          </a:xfrm>
          <a:prstGeom prst="roundRect">
            <a:avLst>
              <a:gd name="adj" fmla="val 20000"/>
            </a:avLst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PUTTING IT TOGETHER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Resilient File-Loading Pattern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pattern you'll reuse constantly in real pipelines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6858000" cy="3566160"/>
          </a:xfrm>
          <a:prstGeom prst="roundRect">
            <a:avLst>
              <a:gd name="adj" fmla="val 2051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21792" y="20665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804672" y="20665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987552" y="20665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731520" y="2304288"/>
            <a:ext cx="6309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load_config(path):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open(path, "r") as f: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json.load(f)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FileNotFoundError: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print(f"Config not found at {path}, using defaults")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{}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json.JSONDecodeError: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print(f"Config at {path} is not valid JSON")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{}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= load_config("settings.json")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20116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2" name="Image 0" descr="/home/claude/python-workshop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221" y="2132381"/>
            <a:ext cx="261518" cy="26151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0" y="19659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failure modes, two specific except blocks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589520" y="32004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5" name="Image 1" descr="/home/claude/python-workshop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221" y="3321101"/>
            <a:ext cx="261518" cy="2615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29600" y="31546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always returns a usable value — never crashes the caller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589520" y="43891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8" name="Image 2" descr="/home/claude/python-workshop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221" y="4509821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0" y="43434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messages mean a teammate sees exactly what went wrong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73452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73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 2.1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5" name="Image 0" descr="/home/claude/python-workshop/icons/too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870" y="5175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Safe CSV Ingestion Function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692640" y="841248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F4F5FA"/>
          </a:solidFill>
          <a:ln w="12700">
            <a:solidFill>
              <a:srgbClr val="E3E5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5"/>
          <p:cNvSpPr/>
          <p:nvPr/>
        </p:nvSpPr>
        <p:spPr>
          <a:xfrm>
            <a:off x="9820656" y="91440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9" name="Image 1" descr="/home/claude/python-workshop/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4664" y="978408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149840" y="84124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receives a daily 'transactions.csv' export. Some days the file is late, missing, or has a malformed row. Your function must never crash the daily job.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25146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load_transactions(path) using with open() and csv.DictReader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Catch FileNotFoundError and log a clear message, return an empty list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Inside the loop, catch ValueError when casting amount to float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Skip bad rows but keep processing the rest of the file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Write the cleaned results to a new JSON file using json.dump()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5074920"/>
            <a:ext cx="6035040" cy="1371600"/>
          </a:xfrm>
          <a:prstGeom prst="roundRect">
            <a:avLst>
              <a:gd name="adj" fmla="val 6667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Shape 10"/>
          <p:cNvSpPr/>
          <p:nvPr/>
        </p:nvSpPr>
        <p:spPr>
          <a:xfrm>
            <a:off x="640080" y="5257800"/>
            <a:ext cx="457200" cy="457200"/>
          </a:xfrm>
          <a:prstGeom prst="ellipse">
            <a:avLst/>
          </a:prstGeom>
          <a:solidFill>
            <a:srgbClr val="FFF1B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5" name="Image 2" descr="/home/claude/python-workshop/icons/bulb_yel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36752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5138928"/>
            <a:ext cx="51206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float(row['amount']) conversion inside its own try/except, nested inside the for-loop over reader.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720840" y="1371600"/>
            <a:ext cx="4983480" cy="5074920"/>
          </a:xfrm>
          <a:prstGeom prst="roundRect">
            <a:avLst>
              <a:gd name="adj" fmla="val 1468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3"/>
          <p:cNvSpPr/>
          <p:nvPr/>
        </p:nvSpPr>
        <p:spPr>
          <a:xfrm>
            <a:off x="6885432" y="15179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Shape 14"/>
          <p:cNvSpPr/>
          <p:nvPr/>
        </p:nvSpPr>
        <p:spPr>
          <a:xfrm>
            <a:off x="7068312" y="15179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Shape 15"/>
          <p:cNvSpPr/>
          <p:nvPr/>
        </p:nvSpPr>
        <p:spPr>
          <a:xfrm>
            <a:off x="7251192" y="15179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6"/>
          <p:cNvSpPr/>
          <p:nvPr/>
        </p:nvSpPr>
        <p:spPr>
          <a:xfrm>
            <a:off x="6995160" y="1755648"/>
            <a:ext cx="4434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csv, json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load_transactions(path):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cleaned = []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your code here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cleaned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load_transactions("transactions.csv")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print(f"Loaded {len(data)} valid rows")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D43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CHECK 2 OF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5" name="Image 0" descr="/home/claude/python-workshop/icons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870" y="5175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the 'with open(...) as f:' pattern preferred over manually calling open() and close()?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5"/>
          <p:cNvSpPr/>
          <p:nvPr/>
        </p:nvSpPr>
        <p:spPr>
          <a:xfrm>
            <a:off x="685800" y="2560320"/>
            <a:ext cx="502920" cy="502920"/>
          </a:xfrm>
          <a:prstGeom prst="ellipse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25880" y="2441448"/>
            <a:ext cx="4389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runs faster than open()/close()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233172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hape 9"/>
          <p:cNvSpPr/>
          <p:nvPr/>
        </p:nvSpPr>
        <p:spPr>
          <a:xfrm>
            <a:off x="6492240" y="2560320"/>
            <a:ext cx="502920" cy="502920"/>
          </a:xfrm>
          <a:prstGeom prst="ellipse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0"/>
          <p:cNvSpPr/>
          <p:nvPr/>
        </p:nvSpPr>
        <p:spPr>
          <a:xfrm>
            <a:off x="64922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132320" y="2441448"/>
            <a:ext cx="4389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automatically converts data types for you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74904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3"/>
          <p:cNvSpPr/>
          <p:nvPr/>
        </p:nvSpPr>
        <p:spPr>
          <a:xfrm>
            <a:off x="685800" y="39776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4"/>
          <p:cNvSpPr/>
          <p:nvPr/>
        </p:nvSpPr>
        <p:spPr>
          <a:xfrm>
            <a:off x="6858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325880" y="3858768"/>
            <a:ext cx="4389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guarantees the file closes even if an error occurs inside the block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63640" y="374904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Shape 17"/>
          <p:cNvSpPr/>
          <p:nvPr/>
        </p:nvSpPr>
        <p:spPr>
          <a:xfrm>
            <a:off x="6492240" y="3977640"/>
            <a:ext cx="502920" cy="502920"/>
          </a:xfrm>
          <a:prstGeom prst="ellipse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8"/>
          <p:cNvSpPr/>
          <p:nvPr/>
        </p:nvSpPr>
        <p:spPr>
          <a:xfrm>
            <a:off x="6492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132320" y="3858768"/>
            <a:ext cx="4389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is required to read CSV files specifically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553212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DCEF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ext 21"/>
          <p:cNvSpPr/>
          <p:nvPr/>
        </p:nvSpPr>
        <p:spPr>
          <a:xfrm>
            <a:off x="731520" y="553212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C.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with statement guarantees cleanup (closing the file) even if an exception is raised partway through — manual close() can be skipped if an error happens first.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54864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232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005840" cy="10058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4" name="Image 0" descr="/home/claude/python-workshop/icons/ta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2" y="2253082"/>
            <a:ext cx="523037" cy="523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Basics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analyst's daily toolkit: load, explore, filter, group, summarize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5120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DataFrames &amp; Series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5394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Loading CSV/JSON directly into Pandas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5669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Selecting, filtering &amp; sorting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groupby &amp; aggregation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217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Handling missing data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Exporting clean results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85416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 &amp; Series: Pandas' Core Objects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303520" cy="16459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order_id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amount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199.99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East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85.50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412.00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337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whole table = a DataFrame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00400" y="1554480"/>
            <a:ext cx="1463040" cy="1307592"/>
          </a:xfrm>
          <a:prstGeom prst="rect">
            <a:avLst/>
          </a:prstGeom>
          <a:solidFill>
            <a:srgbClr val="0D9488">
              <a:alpha val="2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5"/>
          <p:cNvSpPr/>
          <p:nvPr/>
        </p:nvSpPr>
        <p:spPr>
          <a:xfrm>
            <a:off x="320040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column = a Series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155448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7"/>
          <p:cNvSpPr/>
          <p:nvPr/>
        </p:nvSpPr>
        <p:spPr>
          <a:xfrm>
            <a:off x="667512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spreadsheet, but programmable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75120" y="22860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 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full table — rows and columns, like a sheet
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Series 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single column — a labeled, 1-dimensional array
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row labels on the left (0, 1, 2... by default)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in this module works on one of these two objects — once they click, the rest of Pandas falls into place.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SYNTAX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Data: One Line Replaces Your File I/O Code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858000" cy="4023360"/>
          </a:xfrm>
          <a:prstGeom prst="roundRect">
            <a:avLst>
              <a:gd name="adj" fmla="val 1818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621792" y="16093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804672" y="16093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987552" y="16093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731520" y="1847088"/>
            <a:ext cx="6309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CSV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pd.read_csv("orders.csv")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JSON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pd.read_json("orders.json")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Excel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pd.read_excel("orders.xlsx", sheet_name="Q1")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Quick look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      # first 5 rows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     # types, nulls, memory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       # (rows, columns)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43800" y="146304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777240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2" name="Image 0" descr="/home/claude/python-workshop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101" y="1766621"/>
            <a:ext cx="261518" cy="26151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412480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paid off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0" y="214884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read_csv() handles the with-open, the CSV parsing, and type inference — all in one call. You now know exactly what it's doing under the hood.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543800" y="3520440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3"/>
          <p:cNvSpPr/>
          <p:nvPr/>
        </p:nvSpPr>
        <p:spPr>
          <a:xfrm>
            <a:off x="7772400" y="3657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inspect before you trust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72400" y="406908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df.info() reveals wrong dtypes (e.g. a price column read as text) and null counts before they cause silent errors downstream.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SYNTAX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Selecting, Filtering &amp; Sorting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949440" cy="3291840"/>
          </a:xfrm>
          <a:prstGeom prst="roundRect">
            <a:avLst>
              <a:gd name="adj" fmla="val 2222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621792" y="16093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804672" y="16093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987552" y="16093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731520" y="1847088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 columns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df["amount"]                    # one column (Series)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df[["region", "amount"]]        # multiple columns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rows (boolean masking)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df[df["amount"] &gt; 100]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df[df["region"] == "West"]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df[(df["amount"] &gt; 100) &amp; (df["region"] == "West")]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df.sort_values("amount", ascending=False)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35240" y="1463040"/>
            <a:ext cx="4069080" cy="3291840"/>
          </a:xfrm>
          <a:prstGeom prst="roundRect">
            <a:avLst>
              <a:gd name="adj" fmla="val 2778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7863840" y="16276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filter syntax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0" y="21031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df["amount"] &gt; 100  </a:t>
            </a:r>
            <a:endParaRPr lang="en-US" sz="125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True/False Series
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 ... ]  </a:t>
            </a:r>
            <a:endParaRPr lang="en-US" sz="125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rows where that Series is True
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&amp; / |, not and/or  </a:t>
            </a:r>
            <a:endParaRPr lang="en-US" sz="125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combining conditions — and always wrap each condition in parentheses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93776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FDE3D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685800" y="5102352"/>
            <a:ext cx="502920" cy="502920"/>
          </a:xfrm>
          <a:prstGeom prst="ellipse">
            <a:avLst/>
          </a:prstGeom>
          <a:solidFill>
            <a:srgbClr val="FCD7C4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5" name="Image 0" descr="/home/claude/python-workshop/icons/warning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5223053"/>
            <a:ext cx="261518" cy="26151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25880" y="50292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 </a:t>
            </a: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writing df[df["amount"] &gt; 100 and df["region"] == "West"] raises an error — Python's and/or don't work element-by-element on Series.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SYNTAX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groupby: The Analyst's Power Tool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total by region" becomes one readable 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6675120" cy="2743200"/>
          </a:xfrm>
          <a:prstGeom prst="roundRect">
            <a:avLst>
              <a:gd name="adj" fmla="val 2667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21792" y="20208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804672" y="20208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987552" y="20208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731520" y="2258568"/>
            <a:ext cx="6126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Total amount per region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df.groupby("region")["amount"].sum()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aggregations at once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df.groupby("region")["amount"].agg(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["sum", "mean", "count"]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Group by more than one column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df.groupby(["region", "category"])["amount"].sum()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06640" y="192024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2323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7635240" y="19933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 </a:t>
            </a:r>
            <a:r>
              <a:rPr lang="en-US" sz="120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divided into groups by the column you choose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06640" y="283464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2323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7635240" y="29077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 </a:t>
            </a:r>
            <a:r>
              <a:rPr lang="en-US" sz="120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aggregation (sum, mean, count...) runs on each group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406640" y="374904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2323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7635240" y="38221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 </a:t>
            </a:r>
            <a:r>
              <a:rPr lang="en-US" sz="120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merged back into one tidy summary table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493776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731520" y="49377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split-apply-combine  </a:t>
            </a:r>
            <a:r>
              <a:rPr lang="en-US" sz="14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same mental model behind PivotTables in Excel, but scriptable, repeatable, and version-controlled.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SYNTAX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Missing Data (NaN)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949440" cy="3383280"/>
          </a:xfrm>
          <a:prstGeom prst="roundRect">
            <a:avLst>
              <a:gd name="adj" fmla="val 2162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621792" y="16093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804672" y="16093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987552" y="16093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731520" y="1847088"/>
            <a:ext cx="6400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Detect missing values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              # count of NaN per column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 rows with any missing values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 rows missing a specific column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df.dropna(subset=["amount"])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Fill missing values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df["amount"] = df["amount"].fillna(0)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df["region"] = df["region"].fillna("Unknown")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35240" y="1463040"/>
            <a:ext cx="4069080" cy="3383280"/>
          </a:xfrm>
          <a:prstGeom prst="roundRect">
            <a:avLst>
              <a:gd name="adj" fmla="val 2703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7863840" y="16276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dropna() vs fillna()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0" y="21031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dropna()  </a:t>
            </a:r>
            <a:endParaRPr lang="en-US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row entirely — use when a missing value makes the whole row unusable
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fillna() 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substitutes a value — use when you can reasonably estimate or default it
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"would dropping this row bias my analysis?" before choosing.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SYNTAX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Exporting Clean Results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949440" cy="2377440"/>
          </a:xfrm>
          <a:prstGeom prst="roundRect">
            <a:avLst>
              <a:gd name="adj" fmla="val 3077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621792" y="17007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804672" y="17007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987552" y="17007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731520" y="1938528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back to CSV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summary.to_csv("region_summary.csv", index=False)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to Excel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summary.to_excel("region_summary.xlsx", index=False)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to JSON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summary.to_json("region_summary.json", orient="records")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1554480"/>
            <a:ext cx="4069080" cy="2377440"/>
          </a:xfrm>
          <a:prstGeom prst="roundRect">
            <a:avLst>
              <a:gd name="adj" fmla="val 3846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7863840" y="17373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2" name="Image 0" descr="/home/claude/python-workshop/icons/sav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541" y="1858061"/>
            <a:ext cx="261518" cy="26151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50392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index=False, every time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863840" y="2240280"/>
            <a:ext cx="3703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Pandas writes its internal row numbers as an extra unwanted column in your file — a near-universal gotcha for beginners.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20624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3"/>
          <p:cNvSpPr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workflow, end to end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1520" y="4937760"/>
            <a:ext cx="1463040" cy="640080"/>
          </a:xfrm>
          <a:prstGeom prst="roundRect">
            <a:avLst>
              <a:gd name="adj" fmla="val 50000"/>
            </a:avLst>
          </a:prstGeom>
          <a:solidFill>
            <a:srgbClr val="23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5"/>
          <p:cNvSpPr/>
          <p:nvPr/>
        </p:nvSpPr>
        <p:spPr>
          <a:xfrm>
            <a:off x="731520" y="4937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194560" y="49377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2487168" y="4937760"/>
            <a:ext cx="1463040" cy="640080"/>
          </a:xfrm>
          <a:prstGeom prst="roundRect">
            <a:avLst>
              <a:gd name="adj" fmla="val 50000"/>
            </a:avLst>
          </a:prstGeom>
          <a:solidFill>
            <a:srgbClr val="23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8"/>
          <p:cNvSpPr/>
          <p:nvPr/>
        </p:nvSpPr>
        <p:spPr>
          <a:xfrm>
            <a:off x="2487168" y="4937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950208" y="49377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242816" y="4937760"/>
            <a:ext cx="1463040" cy="640080"/>
          </a:xfrm>
          <a:prstGeom prst="roundRect">
            <a:avLst>
              <a:gd name="adj" fmla="val 50000"/>
            </a:avLst>
          </a:prstGeom>
          <a:solidFill>
            <a:srgbClr val="23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Text 21"/>
          <p:cNvSpPr/>
          <p:nvPr/>
        </p:nvSpPr>
        <p:spPr>
          <a:xfrm>
            <a:off x="4242816" y="4937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NaNs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705856" y="49377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998464" y="4937760"/>
            <a:ext cx="1463040" cy="640080"/>
          </a:xfrm>
          <a:prstGeom prst="roundRect">
            <a:avLst>
              <a:gd name="adj" fmla="val 50000"/>
            </a:avLst>
          </a:prstGeom>
          <a:solidFill>
            <a:srgbClr val="23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4"/>
          <p:cNvSpPr/>
          <p:nvPr/>
        </p:nvSpPr>
        <p:spPr>
          <a:xfrm>
            <a:off x="5998464" y="4937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461504" y="49377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754112" y="4937760"/>
            <a:ext cx="1463040" cy="640080"/>
          </a:xfrm>
          <a:prstGeom prst="roundRect">
            <a:avLst>
              <a:gd name="adj" fmla="val 50000"/>
            </a:avLst>
          </a:prstGeom>
          <a:solidFill>
            <a:srgbClr val="23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7"/>
          <p:cNvSpPr/>
          <p:nvPr/>
        </p:nvSpPr>
        <p:spPr>
          <a:xfrm>
            <a:off x="7754112" y="4937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&amp; Sum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217152" y="49377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9509760" y="4937760"/>
            <a:ext cx="1463040" cy="640080"/>
          </a:xfrm>
          <a:prstGeom prst="roundRect">
            <a:avLst>
              <a:gd name="adj" fmla="val 50000"/>
            </a:avLst>
          </a:prstGeom>
          <a:solidFill>
            <a:srgbClr val="2323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Text 30"/>
          <p:cNvSpPr/>
          <p:nvPr/>
        </p:nvSpPr>
        <p:spPr>
          <a:xfrm>
            <a:off x="9509760" y="4937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73452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73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 3.1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5" name="Image 0" descr="/home/claude/python-workshop/icons/too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870" y="5175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Sales Summary (Capstone)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692640" y="841248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F4F5FA"/>
          </a:solidFill>
          <a:ln w="12700">
            <a:solidFill>
              <a:srgbClr val="E3E5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5"/>
          <p:cNvSpPr/>
          <p:nvPr/>
        </p:nvSpPr>
        <p:spPr>
          <a:xfrm>
            <a:off x="9820656" y="91440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9" name="Image 1" descr="/home/claude/python-workshop/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4664" y="978408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149840" y="84124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been given 'regional_sales.csv', containing order_id, region, category, amount, and date. Some amount values are missing. Leadership wants a clean regional summary.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25146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the CSV with pd.read_csv() and inspect with .info()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Drop rows where amount is missing using dropna(subset=...)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Filter out any rows where amount is negative (data entry errors)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Group by region, calculate sum, mean, and count of amount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Sort the summary by total amount, descending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Export the result to 'regional_summary.csv' with index=False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5074920"/>
            <a:ext cx="6035040" cy="1371600"/>
          </a:xfrm>
          <a:prstGeom prst="roundRect">
            <a:avLst>
              <a:gd name="adj" fmla="val 6667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Shape 10"/>
          <p:cNvSpPr/>
          <p:nvPr/>
        </p:nvSpPr>
        <p:spPr>
          <a:xfrm>
            <a:off x="640080" y="5257800"/>
            <a:ext cx="457200" cy="457200"/>
          </a:xfrm>
          <a:prstGeom prst="ellipse">
            <a:avLst/>
          </a:prstGeom>
          <a:solidFill>
            <a:srgbClr val="FFF1B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5" name="Image 2" descr="/home/claude/python-workshop/icons/bulb_yel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36752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5138928"/>
            <a:ext cx="51206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it: df.dropna(subset=['amount']) then filter amount &gt;= 0, then groupby('region')['amount'].agg(['sum','mean','count']).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720840" y="1371600"/>
            <a:ext cx="4983480" cy="5074920"/>
          </a:xfrm>
          <a:prstGeom prst="roundRect">
            <a:avLst>
              <a:gd name="adj" fmla="val 1468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3"/>
          <p:cNvSpPr/>
          <p:nvPr/>
        </p:nvSpPr>
        <p:spPr>
          <a:xfrm>
            <a:off x="6885432" y="15179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Shape 14"/>
          <p:cNvSpPr/>
          <p:nvPr/>
        </p:nvSpPr>
        <p:spPr>
          <a:xfrm>
            <a:off x="7068312" y="15179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Shape 15"/>
          <p:cNvSpPr/>
          <p:nvPr/>
        </p:nvSpPr>
        <p:spPr>
          <a:xfrm>
            <a:off x="7251192" y="15179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6"/>
          <p:cNvSpPr/>
          <p:nvPr/>
        </p:nvSpPr>
        <p:spPr>
          <a:xfrm>
            <a:off x="6995160" y="1755648"/>
            <a:ext cx="4434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pd.read_csv("regional_sales.csv")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your cleaning + analysis here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summary.to_csv(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"regional_summary.csv", index=False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D43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CHECK 3 OF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5" name="Image 0" descr="/home/claude/python-workshop/icons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870" y="5175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df[df["amount"] &gt; 100 and df["region"] == "West"] raise an error in Pandas?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5"/>
          <p:cNvSpPr/>
          <p:nvPr/>
        </p:nvSpPr>
        <p:spPr>
          <a:xfrm>
            <a:off x="685800" y="2560320"/>
            <a:ext cx="502920" cy="502920"/>
          </a:xfrm>
          <a:prstGeom prst="ellipse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25880" y="2441448"/>
            <a:ext cx="4389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Because amount must be converted to a string first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233172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hape 9"/>
          <p:cNvSpPr/>
          <p:nvPr/>
        </p:nvSpPr>
        <p:spPr>
          <a:xfrm>
            <a:off x="6492240" y="25603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0"/>
          <p:cNvSpPr/>
          <p:nvPr/>
        </p:nvSpPr>
        <p:spPr>
          <a:xfrm>
            <a:off x="64922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132320" y="2441448"/>
            <a:ext cx="4389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Because Python's and/or don't work element-by-element on Series — use &amp; / | instead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74904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3"/>
          <p:cNvSpPr/>
          <p:nvPr/>
        </p:nvSpPr>
        <p:spPr>
          <a:xfrm>
            <a:off x="685800" y="3977640"/>
            <a:ext cx="502920" cy="502920"/>
          </a:xfrm>
          <a:prstGeom prst="ellipse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4"/>
          <p:cNvSpPr/>
          <p:nvPr/>
        </p:nvSpPr>
        <p:spPr>
          <a:xfrm>
            <a:off x="6858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325880" y="3858768"/>
            <a:ext cx="4389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Because groupby must be called before filtering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63640" y="374904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Shape 17"/>
          <p:cNvSpPr/>
          <p:nvPr/>
        </p:nvSpPr>
        <p:spPr>
          <a:xfrm>
            <a:off x="6492240" y="3977640"/>
            <a:ext cx="502920" cy="502920"/>
          </a:xfrm>
          <a:prstGeom prst="ellipse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8"/>
          <p:cNvSpPr/>
          <p:nvPr/>
        </p:nvSpPr>
        <p:spPr>
          <a:xfrm>
            <a:off x="6492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132320" y="3858768"/>
            <a:ext cx="4389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Because column names must be capitalized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553212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DCEF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ext 21"/>
          <p:cNvSpPr/>
          <p:nvPr/>
        </p:nvSpPr>
        <p:spPr>
          <a:xfrm>
            <a:off x="731520" y="553212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B.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built-in and/or expect a single True/False, but a Series comparison returns many — Pandas requires the element-wise &amp; and | operators instead.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D43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CHECK 4 OF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5" name="Image 0" descr="/home/claude/python-workshop/icons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870" y="5175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need the total revenue per category AND per region in one summary. Which approach is correct?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5"/>
          <p:cNvSpPr/>
          <p:nvPr/>
        </p:nvSpPr>
        <p:spPr>
          <a:xfrm>
            <a:off x="685800" y="2560320"/>
            <a:ext cx="502920" cy="502920"/>
          </a:xfrm>
          <a:prstGeom prst="ellipse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25880" y="2441448"/>
            <a:ext cx="4389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df.sort_values(['category', 'region'])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233172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hape 9"/>
          <p:cNvSpPr/>
          <p:nvPr/>
        </p:nvSpPr>
        <p:spPr>
          <a:xfrm>
            <a:off x="6492240" y="25603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0"/>
          <p:cNvSpPr/>
          <p:nvPr/>
        </p:nvSpPr>
        <p:spPr>
          <a:xfrm>
            <a:off x="64922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132320" y="2441448"/>
            <a:ext cx="4389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df.groupby(['category', 'region'])['amount'].sum()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74904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3"/>
          <p:cNvSpPr/>
          <p:nvPr/>
        </p:nvSpPr>
        <p:spPr>
          <a:xfrm>
            <a:off x="685800" y="3977640"/>
            <a:ext cx="502920" cy="502920"/>
          </a:xfrm>
          <a:prstGeom prst="ellipse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4"/>
          <p:cNvSpPr/>
          <p:nvPr/>
        </p:nvSpPr>
        <p:spPr>
          <a:xfrm>
            <a:off x="6858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325880" y="3858768"/>
            <a:ext cx="4389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df.dropna(subset=['category', 'region'])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63640" y="374904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Shape 17"/>
          <p:cNvSpPr/>
          <p:nvPr/>
        </p:nvSpPr>
        <p:spPr>
          <a:xfrm>
            <a:off x="6492240" y="3977640"/>
            <a:ext cx="502920" cy="502920"/>
          </a:xfrm>
          <a:prstGeom prst="ellipse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8"/>
          <p:cNvSpPr/>
          <p:nvPr/>
        </p:nvSpPr>
        <p:spPr>
          <a:xfrm>
            <a:off x="6492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132320" y="3858768"/>
            <a:ext cx="4389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df[['category', 'region']].fillna(0)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553212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DCEF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ext 21"/>
          <p:cNvSpPr/>
          <p:nvPr/>
        </p:nvSpPr>
        <p:spPr>
          <a:xfrm>
            <a:off x="731520" y="553212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B.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 list of columns to groupby() creates a combined group for every category-region pair, then sum() aggregates amount within each.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D43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Can Now Do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today's three modules to your actual job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594360" cy="594360"/>
          </a:xfrm>
          <a:prstGeom prst="ellipse">
            <a:avLst/>
          </a:prstGeom>
          <a:solidFill>
            <a:srgbClr val="F4511E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8" name="Image 0" descr="/home/claude/python-workshop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2291486"/>
            <a:ext cx="309067" cy="309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292608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specific exceptions, not just "errors"</a:t>
            </a:r>
            <a:endParaRPr lang="en-US" sz="1250" dirty="0"/>
          </a:p>
          <a:p>
            <a:pPr marL="342900" indent="-342900" algn="l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finally for cleanup that must always run</a:t>
            </a:r>
            <a:endParaRPr lang="en-US" sz="1250" dirty="0"/>
          </a:p>
          <a:p>
            <a:pPr marL="342900" indent="-342900" algn="l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clear, custom errors instead of returning None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33672" y="192024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Shape 9"/>
          <p:cNvSpPr/>
          <p:nvPr/>
        </p:nvSpPr>
        <p:spPr>
          <a:xfrm>
            <a:off x="4507992" y="2148840"/>
            <a:ext cx="594360" cy="594360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3" name="Image 1" descr="/home/claude/python-workshop/icons/fold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0638" y="2291486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9512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I/O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07992" y="292608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text, CSV, and JSON safely</a:t>
            </a:r>
            <a:endParaRPr lang="en-US" sz="1250" dirty="0"/>
          </a:p>
          <a:p>
            <a:pPr marL="342900" indent="-342900" algn="l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with open(...) as f:</a:t>
            </a:r>
            <a:endParaRPr lang="en-US" sz="1250" dirty="0"/>
          </a:p>
          <a:p>
            <a:pPr marL="342900" indent="-342900" algn="l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file access with try/except by default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10144" y="192024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Shape 13"/>
          <p:cNvSpPr/>
          <p:nvPr/>
        </p:nvSpPr>
        <p:spPr>
          <a:xfrm>
            <a:off x="8284464" y="21488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8" name="Image 2" descr="/home/claude/python-workshop/icons/tab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7110" y="229148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15984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Basics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84464" y="292608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straight into a DataFrame</a:t>
            </a:r>
            <a:endParaRPr lang="en-US" sz="1250" dirty="0"/>
          </a:p>
          <a:p>
            <a:pPr marL="342900" indent="-342900" algn="l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sort, and groupby like a spreadsheet — but scriptable</a:t>
            </a:r>
            <a:endParaRPr lang="en-US" sz="1250" dirty="0"/>
          </a:p>
          <a:p>
            <a:pPr marL="342900" indent="-342900" algn="l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missing data deliberately, then export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D43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Go: Can You...?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honest self-check — revisit any module where you hesitate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123444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try/except that catches two different specific exception types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9659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6309360" y="233172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685800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with open() is safer than open()/close()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685800" y="370332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1234440" y="3474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JSON file into a Python dict and back out again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33375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6309360" y="370332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6858000" y="3474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CSV into a Pandas DataFrame and inspect it with .info()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685800" y="507492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1234440" y="48463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 DataFrame using two combined conditions with &amp; 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80760" y="47091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323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6309360" y="507492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6858000" y="48463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groupby() to summarize totals by category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D43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Building From Here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685800" cy="685800"/>
          </a:xfrm>
          <a:prstGeom prst="ellipse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7" name="Image 0" descr="/home/claude/python-workshop/icons/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45059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with real data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703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 real export from your own team's tools and rerun today's capstone exercise on it.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33672" y="20116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8"/>
          <p:cNvSpPr/>
          <p:nvPr/>
        </p:nvSpPr>
        <p:spPr>
          <a:xfrm>
            <a:off x="4507992" y="2286000"/>
            <a:ext cx="685800" cy="6858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2" name="Image 1" descr="/home/claude/python-workshop/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245059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07992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deeper into Pandas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07992" y="3703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merge/join, pivot_table, and time-series handling are natural next steps after today.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10144" y="20116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Shape 12"/>
          <p:cNvSpPr/>
          <p:nvPr/>
        </p:nvSpPr>
        <p:spPr>
          <a:xfrm>
            <a:off x="8284464" y="2286000"/>
            <a:ext cx="685800" cy="685800"/>
          </a:xfrm>
          <a:prstGeom prst="ellipse">
            <a:avLst/>
          </a:prstGeom>
          <a:solidFill>
            <a:srgbClr val="F4511E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7" name="Image 2" descr="/home/claude/python-workshop/icons/gra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245059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84464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it with visualization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284464" y="3703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data is clean in a DataFrame, plotting with matplotlib or seaborn becomes one line away.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457200" y="534924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6"/>
          <p:cNvSpPr/>
          <p:nvPr/>
        </p:nvSpPr>
        <p:spPr>
          <a:xfrm>
            <a:off x="731520" y="5349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docs worth bookmarking:  </a:t>
            </a: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docs.python.org/3/tutorial/errors.html   •   pandas.pydata.org/docs/user_guide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2743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23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4" name="Image 0" descr="/home/claude/python-workshop/icons/fla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9105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made it through the full pipeline: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→ Files → Pandas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putting in the work today. The real skill-building starts now — when you apply this to your own messy, real datasets.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out anytime.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4030</Words>
  <Application>Microsoft Office PowerPoint</Application>
  <PresentationFormat>Widescreen</PresentationFormat>
  <Paragraphs>567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Data Analysts: Beyond the Basics</dc:title>
  <dc:subject>PptxGenJS Presentation</dc:subject>
  <dc:creator>Python Upskilling Workshop</dc:creator>
  <cp:lastModifiedBy>Venkateshkumar Singaravelu</cp:lastModifiedBy>
  <cp:revision>1</cp:revision>
  <dcterms:created xsi:type="dcterms:W3CDTF">2026-06-21T08:24:29Z</dcterms:created>
  <dcterms:modified xsi:type="dcterms:W3CDTF">2026-06-21T08:43:58Z</dcterms:modified>
</cp:coreProperties>
</file>